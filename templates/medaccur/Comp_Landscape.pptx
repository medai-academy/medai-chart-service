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F17B-EBD0-CD6E-B9A8-CD240096D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0C027-C364-0EAE-56C9-251442E1B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A0648-DEC2-2EF1-2707-68524C1C2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41953-991B-A8B2-1F1D-F33631CE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6AA7D-DF28-F48A-1964-5273779F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942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5818-C8F3-1AEB-B13B-5980844FE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80748-3261-A7E5-82F8-3DE4869BD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46991-5F24-CF87-EB75-7852796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C3537-CC76-8C88-9C7B-95C2CC61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4FE23-A0F9-8B28-BAC7-BAB5354BD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742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5191-D183-6278-763E-17D9F97B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E4639-4966-59D5-006E-CE66DAAB0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2FE52-62BE-83ED-7C9A-FCD9AD75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A7AFE-5339-272A-EA4C-CA0D66E5B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AD0D0-CC4A-CE82-3157-7AD6E5B3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22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80901-342A-6669-7393-78A923760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80AC4-9AB1-26B2-293A-01AAA3B7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68934-1711-EF5F-180A-114F1CDCC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17087-0AA9-DCC9-0FFB-8BFCA33D8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95834-C583-DC04-8DD8-3338CF2F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E5516-4356-3A1C-E206-8257DF1EC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802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7BFCE-5BC0-67D9-B80F-AA0A58C1D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0C308-417A-8B16-2590-54913ABB2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C9AFA-2CFF-E11E-A36C-8295B0BAB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5D2E8-0438-0F11-FE4C-1E8FC10B5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E7FB9-5567-1D53-FDFA-1C8D556EF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24C40B-778A-B9EC-3ADA-376032FA3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B6F445-0BAA-FA10-4452-7B8CDF6A9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AC9CB-A9D2-E7C6-FA45-D11ED3AA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838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F719-B6CD-3BA0-5E37-0A3265629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AA85-2C36-7688-494E-57D82AC8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AFC01-300E-E142-57EC-A1562D145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6B1B2-FB38-81CB-2106-60B9622D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7553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2AF8C-FC81-001C-A7E1-143F7B21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E73D27-17B2-6B5A-888B-9BDE0D63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BAF0C-1795-318B-2403-2D116092E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6771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8FA5-DE99-F9C0-4FEE-FB070982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45C81-782A-1E45-031A-CD72FD962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B1995-B770-F103-590A-A26C81A2C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2F894-4B0C-B589-986C-EC8D9A818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BC4B1-0B52-31BC-634B-D90B5B1D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CDA01-6C63-1F8B-99B3-9B352C26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26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D27C2-13E7-4A3E-CDAC-7EEFAF703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21E2CC-6728-01E0-D639-9B6B1C2F9F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69BF4-54A3-0AE0-9500-3DF74430C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DD3B-FD86-0FD8-DB3E-2AE9E9B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9E382-9C15-6FD9-B856-3B59D0CBF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872E2-5F7A-CEE2-592B-5B0930EB0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522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1F96-B441-5CFB-EE7F-920DE1E0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C5B0E-B717-5224-59B6-7A5288C7C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644C6-DF44-1686-1E18-7EFA4E26F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28AC7-2FA4-CB96-1532-102AD47B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6490D-28D8-252E-B8A5-02E7321F4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96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CE313D-AB0D-E22E-AB5E-2DF1FA63C1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4AD41-A98B-5F6B-264A-8EF50F064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9F566-7FF5-C036-514C-A1C40A5BF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079D4-7DC0-003A-8D56-B71F20C8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BE416-0B8F-A4CE-D54A-F8C839AC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6778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CB6CF6-1CA4-A7B0-BEC6-109548C84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2A747-F6EA-2D77-4F50-8D69E9758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C6214-D5CE-5BBB-C75F-FD8021019E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CE909-E47E-645B-7E36-7EEDDBFB1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F8EF3-F845-505B-BE7A-870D57DDD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2339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180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sz="140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940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400"/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1748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8908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4628" y="78856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dirty="0"/>
              <a:t>COMPETITIVE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1988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{{drug_label}}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9268" y="109728"/>
            <a:ext cx="1865376" cy="274320"/>
          </a:xfrm>
          <a:prstGeom prst="rect">
            <a:avLst/>
          </a:prstGeom>
          <a:solidFill>
            <a:srgbClr val="30276D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9268" y="128016"/>
            <a:ext cx="18653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rPr sz="800"/>
              <a:t>{{phase_badge}}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33624" y="119460"/>
            <a:ext cx="2020824" cy="274320"/>
          </a:xfrm>
          <a:prstGeom prst="rect">
            <a:avLst/>
          </a:prstGeom>
          <a:solidFill>
            <a:srgbClr val="3D3010"/>
          </a:solidFill>
          <a:ln w="12700">
            <a:solidFill>
              <a:srgbClr val="8B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99929" y="128016"/>
            <a:ext cx="20208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rPr sz="800" dirty="0"/>
              <a:t>{{</a:t>
            </a:r>
            <a:r>
              <a:rPr sz="800" dirty="0" err="1"/>
              <a:t>scope_badge</a:t>
            </a:r>
            <a:r>
              <a:rPr sz="800" dirty="0"/>
              <a:t>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6180" y="658368"/>
            <a:ext cx="56692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180" y="658368"/>
            <a:ext cx="5669280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6180" y="950976"/>
            <a:ext cx="566928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4196" y="789136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711855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{{comp_title}}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259" y="5413248"/>
            <a:ext cx="457200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6259" y="1207007"/>
            <a:ext cx="9144" cy="42062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6259" y="4361689"/>
            <a:ext cx="4572000" cy="274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49261" y="1207007"/>
            <a:ext cx="2743" cy="4206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6259" y="3310128"/>
            <a:ext cx="4572000" cy="274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92261" y="1207007"/>
            <a:ext cx="2743" cy="4206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6259" y="2258569"/>
            <a:ext cx="4572000" cy="274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35261" y="1207007"/>
            <a:ext cx="2743" cy="4206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11131" y="1988820"/>
            <a:ext cx="5486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 dirty="0"/>
              <a:t>{{comp_drug_1}}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69300" y="1972902"/>
            <a:ext cx="72237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6366F1"/>
                </a:solidFill>
                <a:latin typeface="Arial"/>
              </a:defRPr>
            </a:pPr>
            <a:r>
              <a:rPr sz="700" dirty="0"/>
              <a:t>{{comp_drug_2}}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44203" y="2825495"/>
            <a:ext cx="95097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3B82F6"/>
                </a:solidFill>
                <a:latin typeface="Arial"/>
              </a:defRPr>
            </a:pPr>
            <a:r>
              <a:rPr sz="700" dirty="0" err="1"/>
              <a:t>{{comp_drug_3}}</a:t>
            </a:r>
            <a:endParaRPr sz="700" dirty="0"/>
          </a:p>
        </p:txBody>
      </p:sp>
      <p:sp>
        <p:nvSpPr>
          <p:cNvPr id="36" name="TextBox 35"/>
          <p:cNvSpPr txBox="1"/>
          <p:nvPr/>
        </p:nvSpPr>
        <p:spPr>
          <a:xfrm>
            <a:off x="2615400" y="2389328"/>
            <a:ext cx="101498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06B6D4"/>
                </a:solidFill>
                <a:latin typeface="Arial"/>
              </a:defRPr>
            </a:pPr>
            <a:r>
              <a:rPr sz="700" dirty="0" err="1"/>
              <a:t>{{comp_drug_4}}</a:t>
            </a:r>
            <a:endParaRPr sz="700" dirty="0"/>
          </a:p>
        </p:txBody>
      </p:sp>
      <p:sp>
        <p:nvSpPr>
          <p:cNvPr id="38" name="TextBox 37"/>
          <p:cNvSpPr txBox="1"/>
          <p:nvPr/>
        </p:nvSpPr>
        <p:spPr>
          <a:xfrm>
            <a:off x="2168715" y="2549348"/>
            <a:ext cx="47548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59E0B"/>
                </a:solidFill>
                <a:latin typeface="Arial"/>
              </a:defRPr>
            </a:pPr>
            <a:r>
              <a:rPr sz="700"/>
              <a:t>{{comp_drug_5}}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6227" y="2231136"/>
            <a:ext cx="64922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10B981"/>
                </a:solidFill>
                <a:latin typeface="Arial"/>
              </a:defRPr>
            </a:pPr>
            <a:r>
              <a:rPr sz="700" dirty="0" err="1"/>
              <a:t>{{comp_drug_6}}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74356" y="658368"/>
            <a:ext cx="1030620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574356" y="658368"/>
            <a:ext cx="10306202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574356" y="950976"/>
            <a:ext cx="1030620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702371" y="789136"/>
            <a:ext cx="108813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798940" y="712115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Head-to-Head Comparison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74356" y="1042415"/>
            <a:ext cx="10306202" cy="274320"/>
          </a:xfrm>
          <a:prstGeom prst="rect">
            <a:avLst/>
          </a:prstGeom>
          <a:solidFill>
            <a:srgbClr val="F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665795" y="1097280"/>
            <a:ext cx="24871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Parameter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37395" y="1097280"/>
            <a:ext cx="31089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800"/>
              <a:t>{{comp_drug_1}}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66196" y="1097280"/>
            <a:ext cx="45546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800"/>
              <a:t>Competitor Avg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74356" y="1335024"/>
            <a:ext cx="1030620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574356" y="1659636"/>
            <a:ext cx="1030620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665795" y="1389888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Mechanism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7395" y="1389888"/>
            <a:ext cx="31089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{{comp_1_mechanism}}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66196" y="1389888"/>
            <a:ext cx="455462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{{comp_avg_mechanism}}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74356" y="1988819"/>
            <a:ext cx="1030620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665795" y="171907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Line of therapy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37395" y="1719072"/>
            <a:ext cx="31089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{{comp_1_line}}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66196" y="1719072"/>
            <a:ext cx="455462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{{comp_avg_line}}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74356" y="1993391"/>
            <a:ext cx="1030620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574356" y="2318003"/>
            <a:ext cx="1030620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665795" y="2048255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ORR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37395" y="2048255"/>
            <a:ext cx="31089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{{comp_1_orr}}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66196" y="2048255"/>
            <a:ext cx="455462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{{comp_avg_orr}}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74356" y="2647188"/>
            <a:ext cx="1030620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665795" y="2377440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CR Rate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37395" y="2377440"/>
            <a:ext cx="31089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{{comp_1_cr}}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66196" y="2377440"/>
            <a:ext cx="455462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{{comp_avg_cr}}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574356" y="2651760"/>
            <a:ext cx="1030620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574356" y="2976372"/>
            <a:ext cx="1030620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665795" y="2706624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mPFS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37395" y="2706624"/>
            <a:ext cx="31089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{{comp_1_mpfs}}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66196" y="2706624"/>
            <a:ext cx="455462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{{comp_avg_mpfs}}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74356" y="3305556"/>
            <a:ext cx="1030620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665795" y="3035808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HR (PFS)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37395" y="3035808"/>
            <a:ext cx="31089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{{comp_1_hr}}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66196" y="3035808"/>
            <a:ext cx="455462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{{comp_avg_hr}}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574356" y="3310128"/>
            <a:ext cx="1030620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574356" y="3634740"/>
            <a:ext cx="1030620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665795" y="336499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Route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37395" y="3364992"/>
            <a:ext cx="31089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{{comp_1_route}}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66196" y="3364992"/>
            <a:ext cx="455462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{{comp_avg_route}}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74356" y="3963924"/>
            <a:ext cx="1030620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665795" y="3694176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Key AE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37395" y="3694176"/>
            <a:ext cx="31089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{{comp_1_ae}}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66196" y="3694176"/>
            <a:ext cx="455462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{{comp_avg_ae}}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74356" y="3968496"/>
            <a:ext cx="1030620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574356" y="4293108"/>
            <a:ext cx="1030620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665795" y="4023359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REMS/RMP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37395" y="4023359"/>
            <a:ext cx="31089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{{comp_1_rems}}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66196" y="4023359"/>
            <a:ext cx="455462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{{comp_avg_rems}}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574356" y="4622292"/>
            <a:ext cx="1030620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665795" y="4352543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Convenience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37395" y="4352543"/>
            <a:ext cx="31089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{{comp_1_convenience}}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66196" y="4352543"/>
            <a:ext cx="455462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{{comp_avg_convenience}}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574356" y="4626864"/>
            <a:ext cx="1030620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574356" y="4951476"/>
            <a:ext cx="1030620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665795" y="4681727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HTA readiness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37395" y="4681727"/>
            <a:ext cx="31089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{{comp_1_hta}}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66196" y="4681727"/>
            <a:ext cx="455462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{{comp_avg_hta}}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66180" y="6053327"/>
            <a:ext cx="11859768" cy="47548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66180" y="6053327"/>
            <a:ext cx="36576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30772" y="6108191"/>
            <a:ext cx="17355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800" dirty="0"/>
              <a:t>KEY DIFFERENTIATOR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0772" y="6272784"/>
            <a:ext cx="115305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rPr sz="1000"/>
              <a:t>{{key_differentiator}}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588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30772" y="6629401"/>
            <a:ext cx="6400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{{footer_refs}}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99268" y="6629401"/>
            <a:ext cx="54406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Bopp</dc:creator>
  <cp:lastModifiedBy>Bertan Bopp</cp:lastModifiedBy>
  <cp:revision>2</cp:revision>
  <dcterms:created xsi:type="dcterms:W3CDTF">2026-04-01T22:27:51Z</dcterms:created>
  <dcterms:modified xsi:type="dcterms:W3CDTF">2026-04-02T20:59:56Z</dcterms:modified>
</cp:coreProperties>
</file>