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5486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0479" y="109728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Calibri"/>
              </a:defRPr>
            </a:pPr>
            <a:r>
              <a:rPr dirty="0" err="1"/>
              <a:t>accur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554480" y="109728"/>
            <a:ext cx="1828800" cy="347472"/>
          </a:xfrm>
          <a:prstGeom prst="round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0200" y="13716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WATERFALL PLOT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09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BD5E1"/>
                </a:solidFill>
                <a:latin typeface="Calibri"/>
              </a:defRPr>
            </a:pPr>
            <a:r>
              <a:t>{{drug_label}}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8972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CBD5E1"/>
                </a:solidFill>
                <a:latin typeface="Calibri"/>
              </a:defRPr>
            </a:pPr>
            <a:r>
              <a:t>{{phase_badge}}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61320" y="137160"/>
            <a:ext cx="1280160" cy="292608"/>
          </a:xfrm>
          <a:prstGeom prst="roundRect">
            <a:avLst/>
          </a:prstGeom>
          <a:solidFill>
            <a:srgbClr val="252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15544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CD34D"/>
                </a:solidFill>
                <a:latin typeface="Calibri"/>
              </a:defRPr>
            </a:pPr>
            <a:r>
              <a:t>{{scope_badge}}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66928"/>
            <a:ext cx="12188952" cy="502920"/>
          </a:xfrm>
          <a:prstGeom prst="rect">
            <a:avLst/>
          </a:prstGeom>
          <a:solidFill>
            <a:srgbClr val="F5F3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" y="640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{{waterfall_title}}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6766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475569"/>
                </a:solidFill>
                <a:latin typeface="Calibri"/>
              </a:defRPr>
            </a:pPr>
            <a:r>
              <a:t>{{waterfall_subtitle}}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143000"/>
            <a:ext cx="11274552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1560" y="146304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13716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9202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1560" y="256032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2468879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" y="310896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01752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-20%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51560" y="365760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56616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420624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11480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-60%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" y="475488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66344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-80%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" y="5303520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5212080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-100%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1560" y="2555748"/>
            <a:ext cx="10497312" cy="914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Rectangle 440"/>
          <p:cNvSpPr/>
          <p:nvPr/>
        </p:nvSpPr>
        <p:spPr>
          <a:xfrm>
            <a:off x="914400" y="5733288"/>
            <a:ext cx="164592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TextBox 441"/>
          <p:cNvSpPr txBox="1"/>
          <p:nvPr/>
        </p:nvSpPr>
        <p:spPr>
          <a:xfrm>
            <a:off x="1115568" y="5715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CR/sCR</a:t>
            </a:r>
          </a:p>
        </p:txBody>
      </p:sp>
      <p:sp>
        <p:nvSpPr>
          <p:cNvPr id="443" name="Rectangle 442"/>
          <p:cNvSpPr/>
          <p:nvPr/>
        </p:nvSpPr>
        <p:spPr>
          <a:xfrm>
            <a:off x="1920240" y="5733288"/>
            <a:ext cx="164592" cy="12801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TextBox 443"/>
          <p:cNvSpPr txBox="1"/>
          <p:nvPr/>
        </p:nvSpPr>
        <p:spPr>
          <a:xfrm>
            <a:off x="2121408" y="5715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VGPR</a:t>
            </a:r>
          </a:p>
        </p:txBody>
      </p:sp>
      <p:sp>
        <p:nvSpPr>
          <p:cNvPr id="445" name="Rectangle 444"/>
          <p:cNvSpPr/>
          <p:nvPr/>
        </p:nvSpPr>
        <p:spPr>
          <a:xfrm>
            <a:off x="2926080" y="5733288"/>
            <a:ext cx="164592" cy="12801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TextBox 445"/>
          <p:cNvSpPr txBox="1"/>
          <p:nvPr/>
        </p:nvSpPr>
        <p:spPr>
          <a:xfrm>
            <a:off x="3127248" y="5715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PR</a:t>
            </a:r>
          </a:p>
        </p:txBody>
      </p:sp>
      <p:sp>
        <p:nvSpPr>
          <p:cNvPr id="447" name="Rectangle 446"/>
          <p:cNvSpPr/>
          <p:nvPr/>
        </p:nvSpPr>
        <p:spPr>
          <a:xfrm>
            <a:off x="3931920" y="5733288"/>
            <a:ext cx="164592" cy="12801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TextBox 447"/>
          <p:cNvSpPr txBox="1"/>
          <p:nvPr/>
        </p:nvSpPr>
        <p:spPr>
          <a:xfrm>
            <a:off x="4133088" y="5715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SD</a:t>
            </a:r>
          </a:p>
        </p:txBody>
      </p:sp>
      <p:sp>
        <p:nvSpPr>
          <p:cNvPr id="449" name="Rectangle 448"/>
          <p:cNvSpPr/>
          <p:nvPr/>
        </p:nvSpPr>
        <p:spPr>
          <a:xfrm>
            <a:off x="4937760" y="5733288"/>
            <a:ext cx="164592" cy="12801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TextBox 449"/>
          <p:cNvSpPr txBox="1"/>
          <p:nvPr/>
        </p:nvSpPr>
        <p:spPr>
          <a:xfrm>
            <a:off x="5138928" y="5715000"/>
            <a:ext cx="731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475569"/>
                </a:solidFill>
                <a:latin typeface="Calibri"/>
              </a:defRPr>
            </a:pPr>
            <a:r>
              <a:t>PD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0F172A"/>
                </a:solidFill>
                <a:latin typeface="Calibri"/>
              </a:defRPr>
            </a:pPr>
            <a:r>
              <a:t>{{waterfall_summary}}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FAFB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TextBox 452"/>
          <p:cNvSpPr txBox="1"/>
          <p:nvPr/>
        </p:nvSpPr>
        <p:spPr>
          <a:xfrm>
            <a:off x="475488" y="656539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4A3B8"/>
                </a:solidFill>
                <a:latin typeface="Calibri"/>
              </a:defRPr>
            </a:pPr>
            <a:r>
              <a:t>{{footer_refs}}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8229600" y="65653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B5CF6"/>
                </a:solidFill>
                <a:latin typeface="Calibri"/>
              </a:defRPr>
            </a:pPr>
            <a:r>
              <a:t>{{confidence}}% Confidence · medaccur</a:t>
            </a:r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B8A20519-3028-4BA6-8C9D-E3C08F329543}"/>
              </a:ext>
            </a:extLst>
          </p:cNvPr>
          <p:cNvSpPr/>
          <p:nvPr/>
        </p:nvSpPr>
        <p:spPr>
          <a:xfrm>
            <a:off x="1089906" y="2009394"/>
            <a:ext cx="10497312" cy="274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Custom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Bertan Bopp</cp:lastModifiedBy>
  <cp:revision>2</cp:revision>
  <dcterms:created xsi:type="dcterms:W3CDTF">2013-01-27T09:14:16Z</dcterms:created>
  <dcterms:modified xsi:type="dcterms:W3CDTF">2026-04-02T21:10:33Z</dcterms:modified>
  <cp:category/>
</cp:coreProperties>
</file>