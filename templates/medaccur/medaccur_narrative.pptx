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1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2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6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4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8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0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0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4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033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8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 b="1">
                <a:solidFill>
                  <a:srgbClr val="8B5CF6"/>
                </a:solidFill>
                <a:latin typeface="Arial"/>
              </a:rP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18908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b="1">
                <a:solidFill>
                  <a:srgbClr val="C4B5FD"/>
                </a:solidFill>
                <a:latin typeface="Arial"/>
              </a:rPr>
              <a:t>SCIENTIFIC 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2290" y="100805"/>
            <a:ext cx="23639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lang="de-DE" sz="1100" dirty="0"/>
              <a:t>{{drug_label}}</a:t>
            </a:r>
            <a:endParaRPr sz="1100" dirty="0">
              <a:solidFill>
                <a:srgbClr val="C0C0D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66180" y="658368"/>
            <a:ext cx="11859768" cy="50292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6180" y="1124712"/>
            <a:ext cx="1185976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0772" y="713232"/>
            <a:ext cx="11201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800" b="1">
                <a:solidFill>
                  <a:srgbClr val="94A3B8"/>
                </a:solidFill>
                <a:latin typeface="Arial"/>
              </a:rPr>
              <a:t>CORE SCIENTIFIC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72" y="877824"/>
            <a:ext cx="11201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rPr lang="de-DE" sz="1100" dirty="0"/>
              <a:t>{{core_message}}</a:t>
            </a:r>
            <a:endParaRPr sz="11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6180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6180" y="1426464"/>
            <a:ext cx="2882646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7620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PHASE 3 EFFICACY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620" y="1627633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{{nar_col_1_trial}}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5908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636" y="190195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5908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636" y="215798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5908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636" y="241401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5908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636" y="267004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5908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>
                <a:solidFill>
                  <a:srgbClr val="8B5CF6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636" y="292608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{{nar_col_1_item_5}}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5908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{{nar_col_1_source}}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8554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158554" y="1426464"/>
            <a:ext cx="2882646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49994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SAFETY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9994" y="1627633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{{nar_col_2_trial}}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68282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8282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8282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8282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8282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6366F1"/>
                </a:solidFill>
                <a:latin typeface="Arial"/>
              </a:defRPr>
            </a:pPr>
            <a:r>
              <a:rPr sz="700">
                <a:solidFill>
                  <a:srgbClr val="6366F1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8282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{{nar_col_2_source}}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0928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50928" y="1426464"/>
            <a:ext cx="2882646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42368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SUBGROUP BENEFIT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0656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0656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0656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0656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0656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3B82F6"/>
                </a:solidFill>
                <a:latin typeface="Arial"/>
              </a:defRPr>
            </a:pPr>
            <a:r>
              <a:rPr sz="70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0656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{{nar_col_3_source}}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3302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143302" y="1426464"/>
            <a:ext cx="2882646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234742" y="1481328"/>
            <a:ext cx="2699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rPr sz="800" b="1">
                <a:solidFill>
                  <a:srgbClr val="FFFFFF"/>
                </a:solidFill>
                <a:latin typeface="Arial"/>
              </a:rPr>
              <a:t>PATIENT OUTCOMES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3030" y="1901953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53030" y="2157985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53030" y="2414017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53030" y="2670049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53030" y="2926081"/>
            <a:ext cx="91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0">
                <a:solidFill>
                  <a:srgbClr val="06B6D4"/>
                </a:solidFill>
                <a:latin typeface="Arial"/>
              </a:defRPr>
            </a:pPr>
            <a:r>
              <a:rPr sz="700">
                <a:solidFill>
                  <a:srgbClr val="06B6D4"/>
                </a:solidFill>
                <a:latin typeface="Arial"/>
              </a:rP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3030" y="3310129"/>
            <a:ext cx="2663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i="1">
                <a:solidFill>
                  <a:srgbClr val="94A3B8"/>
                </a:solidFill>
                <a:latin typeface="Arial"/>
              </a:rPr>
              <a:t>{{nar_col_4_source}}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66180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66180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66180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294196" y="3817863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03924" y="3730752"/>
            <a:ext cx="5509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</a:rPr>
              <a:t>Clinical Practice Implications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196" y="4041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500" y="404164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{{impl_1}}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4196" y="440740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0500" y="440740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{{impl_2}}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4196" y="47731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500" y="477316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{{impl_3}}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196" y="513892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F59E0B"/>
                </a:solidFill>
                <a:latin typeface="Arial"/>
              </a:defRPr>
            </a:pPr>
            <a:r>
              <a:rPr sz="90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0500" y="513892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{{impl_4}}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50928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150928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6150928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6278944" y="3817863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388672" y="3730752"/>
            <a:ext cx="5509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</a:rPr>
              <a:t>Remaining Scientific Questions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78944" y="404164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25248" y="404164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{{question_1}}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78944" y="440740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25248" y="440740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{{question_2}}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78944" y="477316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25248" y="477316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{{question_3}}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78944" y="5138928"/>
            <a:ext cx="128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1" i="0">
                <a:solidFill>
                  <a:srgbClr val="EF4444"/>
                </a:solidFill>
                <a:latin typeface="Arial"/>
              </a:defRPr>
            </a:pPr>
            <a:r>
              <a:rPr sz="900" b="1">
                <a:solidFill>
                  <a:srgbClr val="EF4444"/>
                </a:solidFill>
                <a:latin typeface="Arial"/>
              </a:rPr>
              <a:t>?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25248" y="5138928"/>
            <a:ext cx="54726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>
                <a:solidFill>
                  <a:srgbClr val="475569"/>
                </a:solidFill>
                <a:latin typeface="Arial"/>
              </a:rPr>
              <a:t>{{question_4}}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lang="de-DE" sz="700" i="1" dirty="0"/>
              <a:t>{{footer_refs}}</a:t>
            </a:r>
            <a:endParaRPr sz="700" i="1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lang="de-DE" sz="700" b="1" dirty="0"/>
              <a:t>{{confidence}}% Confidence · medaccur</a:t>
            </a:r>
            <a:endParaRPr sz="700" b="1" dirty="0">
              <a:solidFill>
                <a:srgbClr val="8B5CF6"/>
              </a:solidFill>
              <a:latin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9BF1E7-6B5A-AED7-1960-3C821A6AFD98}"/>
              </a:ext>
            </a:extLst>
          </p:cNvPr>
          <p:cNvSpPr txBox="1"/>
          <p:nvPr/>
        </p:nvSpPr>
        <p:spPr>
          <a:xfrm>
            <a:off x="3359722" y="188416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25AB40E-C5C1-591E-3B11-B44F28CC36A6}"/>
              </a:ext>
            </a:extLst>
          </p:cNvPr>
          <p:cNvSpPr txBox="1"/>
          <p:nvPr/>
        </p:nvSpPr>
        <p:spPr>
          <a:xfrm>
            <a:off x="3359722" y="214020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04DEAB-09EB-668F-D8B6-0DF61B1CAF18}"/>
              </a:ext>
            </a:extLst>
          </p:cNvPr>
          <p:cNvSpPr txBox="1"/>
          <p:nvPr/>
        </p:nvSpPr>
        <p:spPr>
          <a:xfrm>
            <a:off x="3359722" y="239623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6C931A9-874C-1D1F-2754-E0D8D682BC1C}"/>
              </a:ext>
            </a:extLst>
          </p:cNvPr>
          <p:cNvSpPr txBox="1"/>
          <p:nvPr/>
        </p:nvSpPr>
        <p:spPr>
          <a:xfrm>
            <a:off x="3359722" y="265226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7005E58-DA3A-073D-793E-17C9F8079B32}"/>
              </a:ext>
            </a:extLst>
          </p:cNvPr>
          <p:cNvSpPr txBox="1"/>
          <p:nvPr/>
        </p:nvSpPr>
        <p:spPr>
          <a:xfrm>
            <a:off x="3359722" y="290829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{{nar_col_2_item_5}}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CDB9513-71AD-4869-85C4-BE22DB09F9E8}"/>
              </a:ext>
            </a:extLst>
          </p:cNvPr>
          <p:cNvSpPr txBox="1"/>
          <p:nvPr/>
        </p:nvSpPr>
        <p:spPr>
          <a:xfrm>
            <a:off x="6352096" y="188254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147D62B-F489-812E-B0D6-A067F6A47CCE}"/>
              </a:ext>
            </a:extLst>
          </p:cNvPr>
          <p:cNvSpPr txBox="1"/>
          <p:nvPr/>
        </p:nvSpPr>
        <p:spPr>
          <a:xfrm>
            <a:off x="6352096" y="213857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F6FA683-3FA1-A37D-BE54-728D3F6A622C}"/>
              </a:ext>
            </a:extLst>
          </p:cNvPr>
          <p:cNvSpPr txBox="1"/>
          <p:nvPr/>
        </p:nvSpPr>
        <p:spPr>
          <a:xfrm>
            <a:off x="6352096" y="239460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7E59515-34A7-5129-4E9D-8D5C3B400284}"/>
              </a:ext>
            </a:extLst>
          </p:cNvPr>
          <p:cNvSpPr txBox="1"/>
          <p:nvPr/>
        </p:nvSpPr>
        <p:spPr>
          <a:xfrm>
            <a:off x="6352096" y="265063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599D641-0184-DFE3-1ED1-8F0F406F54DC}"/>
              </a:ext>
            </a:extLst>
          </p:cNvPr>
          <p:cNvSpPr txBox="1"/>
          <p:nvPr/>
        </p:nvSpPr>
        <p:spPr>
          <a:xfrm>
            <a:off x="6352096" y="290667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{{nar_col_3_item_5}}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512424D-3B65-7818-80CB-3850F9FBFE21}"/>
              </a:ext>
            </a:extLst>
          </p:cNvPr>
          <p:cNvSpPr txBox="1"/>
          <p:nvPr/>
        </p:nvSpPr>
        <p:spPr>
          <a:xfrm>
            <a:off x="9408478" y="1899726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{{nar_col_4_item_1}}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FDF9A67-3BFF-A2DB-BADC-062DFFE20529}"/>
              </a:ext>
            </a:extLst>
          </p:cNvPr>
          <p:cNvSpPr txBox="1"/>
          <p:nvPr/>
        </p:nvSpPr>
        <p:spPr>
          <a:xfrm>
            <a:off x="9408478" y="2155758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{{nar_col_4_item_2}}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DB93407-6989-155A-F042-E42F1F7880D8}"/>
              </a:ext>
            </a:extLst>
          </p:cNvPr>
          <p:cNvSpPr txBox="1"/>
          <p:nvPr/>
        </p:nvSpPr>
        <p:spPr>
          <a:xfrm>
            <a:off x="9408478" y="2411790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{{nar_col_4_item_3}}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3A82490-2913-9E4A-963C-3EB27DE53E41}"/>
              </a:ext>
            </a:extLst>
          </p:cNvPr>
          <p:cNvSpPr txBox="1"/>
          <p:nvPr/>
        </p:nvSpPr>
        <p:spPr>
          <a:xfrm>
            <a:off x="9408478" y="2667822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{{nar_col_4_item_4}}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BCB3ED5-049D-1005-7697-4D4AC16201C0}"/>
              </a:ext>
            </a:extLst>
          </p:cNvPr>
          <p:cNvSpPr txBox="1"/>
          <p:nvPr/>
        </p:nvSpPr>
        <p:spPr>
          <a:xfrm>
            <a:off x="9408478" y="2923854"/>
            <a:ext cx="25534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lang="en-US" sz="850" dirty="0"/>
              <a:t>{{nar_col_4_item_5}}</a:t>
            </a:r>
            <a:endParaRPr sz="85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A779EC2-8AD8-EDC0-FEAE-B3F848AD508E}"/>
              </a:ext>
            </a:extLst>
          </p:cNvPr>
          <p:cNvSpPr txBox="1"/>
          <p:nvPr/>
        </p:nvSpPr>
        <p:spPr>
          <a:xfrm>
            <a:off x="6242368" y="1621541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{{nar_col_3_trial}}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2245B3B-AC2A-6E67-2EE5-08B20403C264}"/>
              </a:ext>
            </a:extLst>
          </p:cNvPr>
          <p:cNvSpPr txBox="1"/>
          <p:nvPr/>
        </p:nvSpPr>
        <p:spPr>
          <a:xfrm>
            <a:off x="9216454" y="1609650"/>
            <a:ext cx="2699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de-DE" sz="1000" b="1" dirty="0"/>
              <a:t>{{nar_col_4_trial}}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Widescreen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2026-04-01T22:00:45Z</dcterms:created>
  <dcterms:modified xsi:type="dcterms:W3CDTF">2026-04-01T22:12:31Z</dcterms:modified>
</cp:coreProperties>
</file>