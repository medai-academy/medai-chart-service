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FFFFFF"/>
                </a:solidFill>
              </a:rPr>
              <a:t>med</a:t>
            </a:r>
            <a:r>
              <a:rPr b="0" sz="1300">
                <a:solidFill>
                  <a:srgbClr val="7C6FFF"/>
                </a:solidFill>
              </a:rPr>
              <a:t>accur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91440"/>
            <a:ext cx="2011680" cy="320040"/>
          </a:xfrm>
          <a:prstGeom prst="roundRect">
            <a:avLst/>
          </a:prstGeom>
          <a:solidFill>
            <a:srgbClr val="2D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COMPETITIVE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0972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{{drug_label}}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91440"/>
            <a:ext cx="1371600" cy="320040"/>
          </a:xfrm>
          <a:prstGeom prst="roundRect">
            <a:avLst/>
          </a:prstGeom>
          <a:solidFill>
            <a:srgbClr val="2D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{{phase_badge}}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91440"/>
            <a:ext cx="1371600" cy="320040"/>
          </a:xfrm>
          <a:prstGeom prst="roundRect">
            <a:avLst/>
          </a:prstGeom>
          <a:solidFill>
            <a:srgbClr val="7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{{scope_badge}}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" y="640080"/>
            <a:ext cx="11795760" cy="5852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731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{{comp_reg_title}}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0058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{{comp_reg_subtitle}}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1430000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389888"/>
            <a:ext cx="21031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FFFFFF"/>
                </a:solidFill>
              </a:defRPr>
            </a:pPr>
            <a:r>
              <a:t>Regimen / Drug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389888"/>
            <a:ext cx="11887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FFFFFF"/>
                </a:solidFill>
              </a:defRPr>
            </a:pPr>
            <a:r>
              <a:t>Line of Therapy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389888"/>
            <a:ext cx="14630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FFFFFF"/>
                </a:solidFill>
              </a:defRPr>
            </a:pPr>
            <a:r>
              <a:t>EMA 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1389888"/>
            <a:ext cx="14630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FFFFFF"/>
                </a:solidFill>
              </a:defRPr>
            </a:pPr>
            <a:r>
              <a:t>FDA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389888"/>
            <a:ext cx="14630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FFFFFF"/>
                </a:solidFill>
              </a:defRPr>
            </a:pPr>
            <a:r>
              <a:t>{{country}} Auth.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1389888"/>
            <a:ext cx="26517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FFFFFF"/>
                </a:solidFill>
              </a:defRPr>
            </a:pPr>
            <a:r>
              <a:t>Pivotal Study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755648"/>
            <a:ext cx="11430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177393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{{reg_1_name}}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1773936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{{reg_1_line}}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1773936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{{reg_1_ema}}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1773936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{{reg_1_fda}}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1773936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{{reg_1_local}}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1773936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{{reg_1_study}}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139696"/>
            <a:ext cx="1143000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157984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{{reg_2_name}}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2157984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{{reg_2_line}}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2157984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{{reg_2_ema}}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2157984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{{reg_2_fda}}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2157984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{{reg_2_local}}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215798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{{reg_2_study}}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523744"/>
            <a:ext cx="11430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54203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{{reg_3_name}}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2542032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{{reg_3_line}}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254203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{{reg_3_ema}}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254203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{{reg_3_fda}}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254203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{{reg_3_local}}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25420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{{reg_3_study}}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2907791"/>
            <a:ext cx="1143000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2926079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{{reg_4_name}}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2926079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{{reg_4_line}}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2926079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{{reg_4_ema}}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720" y="2926079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{{reg_4_fda}}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2926079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{{reg_4_local}}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2926079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{{reg_4_study}}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291839"/>
            <a:ext cx="11430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310127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{{reg_5_name}}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3310127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{{reg_5_line}}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3310127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{{reg_5_ema}}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720" y="3310127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{{reg_5_fda}}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3310127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{{reg_5_local}}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0" y="3310127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{{reg_5_study}}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675887"/>
            <a:ext cx="1143000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3694175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{{reg_6_name}}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3694175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{{reg_6_line}}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0" y="3694175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{{reg_6_ema}}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60720" y="3694175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{{reg_6_fda}}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06640" y="3694175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{{reg_6_local}}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0" y="3694175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{{reg_6_study}}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059935"/>
            <a:ext cx="11430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078223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{{reg_7_name}}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0" y="4078223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{{reg_7_line}}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0" y="4078223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{{reg_7_ema}}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60720" y="4078223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{{reg_7_fda}}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06640" y="4078223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{{reg_7_local}}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0" y="4078223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{{reg_7_study}}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4443983"/>
            <a:ext cx="1143000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4462271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{{reg_8_name}}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43200" y="4462271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{{reg_8_line}}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14800" y="4462271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{{reg_8_ema}}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60720" y="4462271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{{reg_8_fda}}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06640" y="4462271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{{reg_8_local}}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52560" y="4462271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{{reg_8_study}}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035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C6FFF"/>
                </a:solidFill>
              </a:defRPr>
            </a:pPr>
            <a:r>
              <a:t>{{comp_reg_key_message}}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5760" y="662940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94A3B8"/>
                </a:solidFill>
              </a:defRPr>
            </a:pPr>
            <a:r>
              <a:t>{{footer_refs}}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86800" y="662940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C6FFF"/>
                </a:solidFill>
              </a:defRPr>
            </a:pPr>
            <a:r>
              <a:t>{{confidence}}% Confidence · medaccur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