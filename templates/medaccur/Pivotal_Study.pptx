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690B7-3138-446F-B51E-B4015F79ED9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0FBE52-EABD-47BE-913A-D36E454649F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4727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538A67-D60F-4B73-BA77-89F7B299D43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0811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DE5C6-8A67-8D44-6D39-60B88F90F3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261A59-AE0F-4DB3-1808-1CDA6813C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4C6E6-A922-7733-B629-A6CC7AB33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E94A-CFCC-4734-95FE-81AA9400F7B2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95197-6D51-03F2-6D0F-3A40F4C94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514E2-5DA7-C4CD-CB0B-C07C69A29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6650B-6558-465E-B2DD-8E7983ADF9A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7529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D97B1-320E-FDAB-7D5F-4B90B16DB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74EAD-9531-7E10-2B65-708AE09C6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92E94-1122-9E7F-EFE5-2809EBA34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E94A-CFCC-4734-95FE-81AA9400F7B2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CBEC4-E0CE-AF60-A38D-2A6AC43E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77151-DCE1-DC19-BB03-D6EEF754D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6650B-6558-465E-B2DD-8E7983ADF9A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5480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7DD63-34A9-5446-20AA-66E215DFC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1B798-E3EA-306D-5DFE-4CF84829B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97226-CCC7-4472-9257-3226FB216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E94A-CFCC-4734-95FE-81AA9400F7B2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02E7F-3C5C-8BB8-C840-A165DDCEF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2F875-D27E-0A54-59B8-0DF8FF3FB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6650B-6558-465E-B2DD-8E7983ADF9A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4082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9519E-4CBD-685A-9A63-BC6454D0B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4C1D8-E14A-F1E1-3232-127AE79229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D408A1-E7D2-0E85-0911-82078AE1F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269D4-2EF2-7F8E-DF65-D4185928C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E94A-CFCC-4734-95FE-81AA9400F7B2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C2DB7-8BA9-E6A0-E9F3-D23230741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5EF08-BF7B-EC4A-22F6-5CACA5EF8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6650B-6558-465E-B2DD-8E7983ADF9A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2559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AD314-371C-A63B-9A2B-35E4507D9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2D9D1-A251-A431-F6AE-2F53D2081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75828F-AB69-7288-931B-285A253F3A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F96F07-A276-72EC-F281-B8D1F3EA87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D6BE68-E203-BD69-07CD-F9E14E827D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A4D380-017B-43C7-DAB0-7466F0E79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E94A-CFCC-4734-95FE-81AA9400F7B2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1B28A5-70E0-DE1F-FABF-616596338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D3D86B-EEF4-5EC3-6A4D-BBA3EF791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6650B-6558-465E-B2DD-8E7983ADF9A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1453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8041E-E590-5143-5340-1AB1DCFF1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A37A14-DB1D-E693-29C9-5870E038F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E94A-CFCC-4734-95FE-81AA9400F7B2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64ED43-B218-FEE4-C256-87AD880BC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5F16EA-6714-4B1B-4462-0FE3CBC3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6650B-6558-465E-B2DD-8E7983ADF9A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5620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DEF57E-54B6-77F7-267C-C3EC2468B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E94A-CFCC-4734-95FE-81AA9400F7B2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DF4DAC-8C46-8283-4A1D-53AF71091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7FC08-1BEB-2471-090C-032E87649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6650B-6558-465E-B2DD-8E7983ADF9A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1731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B34F4-244A-8F45-DFD7-293A76FA3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E479D-FE22-3AB2-D2F2-8ED8F7690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906588-3D65-ACD3-97EC-EEA02802C0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24F0A-DEA9-7535-1D15-CA3051571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E94A-CFCC-4734-95FE-81AA9400F7B2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A5230C-BCEC-5F15-B24E-B04673724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316F4-A248-CC60-E021-5F075162D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6650B-6558-465E-B2DD-8E7983ADF9A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1171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26682-55EA-3240-D963-4BCC88B0E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2A0B27-806D-FB55-226C-210D892211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AE2A54-C4F8-FDC5-CDC1-23C73D560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379E03-4265-FE1B-FA97-933EC220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E94A-CFCC-4734-95FE-81AA9400F7B2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EFD521-3D2F-A16C-C6B2-56406D50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C9A09-BD90-86D2-C4B8-E30C430F0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6650B-6558-465E-B2DD-8E7983ADF9A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5217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54CC9-A386-E375-C418-5757428FC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3C3013-F911-9EC2-3C6B-5EC35F986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665F4-D2FD-4ACB-252F-13C119A77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E94A-CFCC-4734-95FE-81AA9400F7B2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5D8C4-7BA1-572C-1598-DBCB1BBCD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9019E-122D-3673-7184-B9972E351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6650B-6558-465E-B2DD-8E7983ADF9A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9600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6A9E19-8E40-28C2-B3EE-5A3564DB8E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BFD98A-2308-1B8A-2DE4-78A7385C3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0CD42-7836-B546-5433-77D203164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E94A-CFCC-4734-95FE-81AA9400F7B2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5A6B1-F1E7-C5B0-3AE1-0DDDFC084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5FD4A-3201-CBBA-5793-B816C81AA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6650B-6558-465E-B2DD-8E7983ADF9A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6918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FB9726-10AE-F188-391A-815BD7826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FE36D4-EB22-CA79-0D65-C261E1986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F6939-6F40-F544-A8BB-44D14983EB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1E94A-CFCC-4734-95FE-81AA9400F7B2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09ADC-DDDA-99E2-FFD0-29DA4F44EB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2ED7D-178B-4ED7-2A9F-9874C85688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F6650B-6558-465E-B2DD-8E7983ADF9A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0957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6180" y="109729"/>
            <a:ext cx="5669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rPr sz="1400" dirty="0"/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1842" y="109729"/>
            <a:ext cx="7499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rPr sz="1400" dirty="0" err="1"/>
              <a:t>accur</a:t>
            </a:r>
            <a:endParaRPr sz="1400" dirty="0"/>
          </a:p>
        </p:txBody>
      </p:sp>
      <p:sp>
        <p:nvSpPr>
          <p:cNvPr id="6" name="Rectangle 5"/>
          <p:cNvSpPr/>
          <p:nvPr/>
        </p:nvSpPr>
        <p:spPr>
          <a:xfrm>
            <a:off x="1281748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18908" y="109728"/>
            <a:ext cx="1463040" cy="274320"/>
          </a:xfrm>
          <a:prstGeom prst="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4628" y="12801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sz="900"/>
              <a:t>PIVOTAL STUDIES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9108" y="109728"/>
            <a:ext cx="5029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rPr sz="1100"/>
              <a:t>{{drug_label_full}}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8388" y="109728"/>
            <a:ext cx="1097280" cy="274320"/>
          </a:xfrm>
          <a:prstGeom prst="rect">
            <a:avLst/>
          </a:prstGeom>
          <a:solidFill>
            <a:srgbClr val="30276D"/>
          </a:solidFill>
          <a:ln w="12700">
            <a:solidFill>
              <a:srgbClr val="6B5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8388" y="128016"/>
            <a:ext cx="10972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C4B5FD"/>
                </a:solidFill>
                <a:latin typeface="Arial"/>
              </a:defRPr>
            </a:pPr>
            <a:r>
              <a:rPr sz="800"/>
              <a:t>{{phase_badge}}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7108" y="109728"/>
            <a:ext cx="1188720" cy="274320"/>
          </a:xfrm>
          <a:prstGeom prst="rect">
            <a:avLst/>
          </a:prstGeom>
          <a:solidFill>
            <a:srgbClr val="3D3010"/>
          </a:solidFill>
          <a:ln w="12700">
            <a:solidFill>
              <a:srgbClr val="8B6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7108" y="128016"/>
            <a:ext cx="1188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CD34D"/>
                </a:solidFill>
                <a:latin typeface="Arial"/>
              </a:defRPr>
            </a:pPr>
            <a:r>
              <a:rPr sz="800"/>
              <a:t>{{scope_badge}}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6180" y="612648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6180" y="612648"/>
            <a:ext cx="2651760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66180" y="877824"/>
            <a:ext cx="265176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94196" y="713232"/>
            <a:ext cx="64008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3924" y="685800"/>
            <a:ext cx="21945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/>
              <a:t>{{study_design_title}}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4364" y="898376"/>
            <a:ext cx="2395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 i="0">
                <a:solidFill>
                  <a:srgbClr val="0F172A"/>
                </a:solidFill>
                <a:latin typeface="Arial"/>
              </a:defRPr>
            </a:pPr>
            <a:r>
              <a:rPr sz="2400" dirty="0">
                <a:gradFill flip="none" rotWithShape="1">
                  <a:gsLst>
                    <a:gs pos="0">
                      <a:schemeClr val="accent4">
                        <a:lumMod val="50000"/>
                        <a:lumOff val="50000"/>
                      </a:schemeClr>
                    </a:gs>
                    <a:gs pos="46000">
                      <a:schemeClr val="accent4">
                        <a:lumMod val="95000"/>
                        <a:lumOff val="5000"/>
                      </a:schemeClr>
                    </a:gs>
                    <a:gs pos="100000">
                      <a:schemeClr val="accent4">
                        <a:lumMod val="60000"/>
                      </a:schemeClr>
                    </a:gs>
                  </a:gsLst>
                  <a:lin ang="2700000" scaled="1"/>
                  <a:tileRect/>
                </a:gradFill>
              </a:rPr>
              <a:t>{{trial_name}}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4364" y="1321751"/>
            <a:ext cx="2395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 dirty="0"/>
              <a:t>{{trial_design}}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4196" y="169163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0908" y="1728217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 sz="750">
                <a:solidFill>
                  <a:schemeClr val="bg1">
                    <a:lumMod val="50000"/>
                  </a:schemeClr>
                </a:solidFill>
              </a:rPr>
              <a:t>Experimental arm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0852" y="1714761"/>
            <a:ext cx="17245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 dirty="0" err="1"/>
              <a:t>{{experimental_arm}}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4196" y="1965960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0908" y="2002537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 sz="750">
                <a:solidFill>
                  <a:schemeClr val="bg1">
                    <a:lumMod val="50000"/>
                  </a:schemeClr>
                </a:solidFill>
              </a:rPr>
              <a:t>Control arm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404" y="2002536"/>
            <a:ext cx="18800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 dirty="0"/>
              <a:t>{{control_arm}}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4196" y="224027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0908" y="2276857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 sz="750">
                <a:solidFill>
                  <a:schemeClr val="bg1">
                    <a:lumMod val="50000"/>
                  </a:schemeClr>
                </a:solidFill>
              </a:rPr>
              <a:t>Primary endpoint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852" y="2276856"/>
            <a:ext cx="1724576" cy="223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 dirty="0"/>
              <a:t>{{primary_endpoint}}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4196" y="251459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0908" y="2551176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 sz="750" dirty="0">
                <a:solidFill>
                  <a:schemeClr val="bg1">
                    <a:lumMod val="50000"/>
                  </a:schemeClr>
                </a:solidFill>
              </a:rPr>
              <a:t>Key eligibility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3904" y="2551174"/>
            <a:ext cx="18115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 dirty="0"/>
              <a:t>{{key_eligibility}}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4196" y="278891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40908" y="2825496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 sz="750" dirty="0" err="1">
                <a:solidFill>
                  <a:schemeClr val="bg1">
                    <a:lumMod val="50000"/>
                  </a:schemeClr>
                </a:solidFill>
              </a:rPr>
              <a:t>Randomisation</a:t>
            </a:r>
            <a:endParaRPr sz="7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83904" y="2825495"/>
            <a:ext cx="18115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 dirty="0"/>
              <a:t>{{randomisation}}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4196" y="306323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40908" y="3099816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 sz="750" dirty="0">
                <a:solidFill>
                  <a:schemeClr val="bg1">
                    <a:lumMod val="50000"/>
                  </a:schemeClr>
                </a:solidFill>
              </a:rPr>
              <a:t>Data cut-off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33556" y="3099815"/>
            <a:ext cx="12618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sz="800" dirty="0"/>
              <a:t>{{data_cutoff}}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6180" y="3648457"/>
            <a:ext cx="2651760" cy="2798063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66180" y="3648456"/>
            <a:ext cx="2651760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66180" y="3913632"/>
            <a:ext cx="265176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94196" y="3749040"/>
            <a:ext cx="64008" cy="6400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03924" y="3721608"/>
            <a:ext cx="21945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/>
              <a:t>{{safety_title}}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4196" y="4050792"/>
            <a:ext cx="109728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/>
              <a:t>GRADE ≥3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4196" y="4215383"/>
            <a:ext cx="239572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B91C1C"/>
                </a:solidFill>
                <a:latin typeface="Arial"/>
              </a:defRPr>
            </a:pPr>
            <a:r>
              <a:rPr sz="850" dirty="0"/>
              <a:t>{{safety_grade3_1}}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4196" y="4398264"/>
            <a:ext cx="239572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B91C1C"/>
                </a:solidFill>
                <a:latin typeface="Arial"/>
              </a:defRPr>
            </a:pPr>
            <a:r>
              <a:rPr sz="850" dirty="0"/>
              <a:t>{{safety_grade3_2}}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4196" y="4581144"/>
            <a:ext cx="239572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B91C1C"/>
                </a:solidFill>
                <a:latin typeface="Arial"/>
              </a:defRPr>
            </a:pPr>
            <a:r>
              <a:rPr sz="850" dirty="0" err="1"/>
              <a:t>{{safety_grade3_3}}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4196" y="4764024"/>
            <a:ext cx="239572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B91C1C"/>
                </a:solidFill>
                <a:latin typeface="Arial"/>
              </a:defRPr>
            </a:pPr>
            <a:r>
              <a:rPr sz="850" dirty="0"/>
              <a:t>{{safety_grade3_4}}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4196" y="5020057"/>
            <a:ext cx="142803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 dirty="0"/>
              <a:t>ANY GRADE — OCULAR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4196" y="5312467"/>
            <a:ext cx="239572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C2410C"/>
                </a:solidFill>
                <a:latin typeface="Arial"/>
              </a:defRPr>
            </a:pPr>
            <a:r>
              <a:rPr sz="850" dirty="0"/>
              <a:t>{{safety_ocular_1}}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4196" y="5495347"/>
            <a:ext cx="239572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C2410C"/>
                </a:solidFill>
                <a:latin typeface="Arial"/>
              </a:defRPr>
            </a:pPr>
            <a:r>
              <a:rPr sz="850" dirty="0"/>
              <a:t>{{safety_ocular_2}}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4196" y="5678227"/>
            <a:ext cx="239572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C2410C"/>
                </a:solidFill>
                <a:latin typeface="Arial"/>
              </a:defRPr>
            </a:pPr>
            <a:r>
              <a:rPr sz="850" dirty="0"/>
              <a:t>{{safety_ocular_3}}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27668" y="612648"/>
            <a:ext cx="4297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927668" y="612648"/>
            <a:ext cx="4297680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927668" y="877824"/>
            <a:ext cx="429768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055684" y="713232"/>
            <a:ext cx="64008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165412" y="685800"/>
            <a:ext cx="3840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/>
              <a:t>{{efficacy_title}}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055684" y="996695"/>
            <a:ext cx="1984248" cy="630936"/>
          </a:xfrm>
          <a:prstGeom prst="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055684" y="996695"/>
            <a:ext cx="27432" cy="6309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147125" y="1051561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>
                <a:solidFill>
                  <a:schemeClr val="tx1">
                    <a:lumMod val="50000"/>
                    <a:lumOff val="50000"/>
                  </a:schemeClr>
                </a:solidFill>
              </a:rPr>
              <a:t>{{mpfs_exp_label}}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47124" y="1130416"/>
            <a:ext cx="9921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{{mpfs_exp_value}}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55789" y="1244272"/>
            <a:ext cx="4023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rPr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147125" y="1463040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>
                <a:solidFill>
                  <a:schemeClr val="tx1">
                    <a:lumMod val="50000"/>
                    <a:lumOff val="50000"/>
                  </a:schemeClr>
                </a:solidFill>
              </a:rPr>
              <a:t>{{mpfs_exp_ci}}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13084" y="996695"/>
            <a:ext cx="1984248" cy="630936"/>
          </a:xfrm>
          <a:prstGeom prst="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113084" y="996695"/>
            <a:ext cx="27432" cy="63093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204525" y="1051561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>
                <a:solidFill>
                  <a:schemeClr val="tx1">
                    <a:lumMod val="50000"/>
                    <a:lumOff val="50000"/>
                  </a:schemeClr>
                </a:solidFill>
              </a:rPr>
              <a:t>{{mpfs_ctrl_label}}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04524" y="1130416"/>
            <a:ext cx="9921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0F172A"/>
                </a:solidFill>
                <a:latin typeface="Arial"/>
              </a:defRPr>
            </a:pPr>
            <a:r>
              <a:rPr sz="1600"/>
              <a:t>{{mpfs_ctrl_value}}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13188" y="1244272"/>
            <a:ext cx="394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rPr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204525" y="1463040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>
                <a:solidFill>
                  <a:schemeClr val="tx1">
                    <a:lumMod val="50000"/>
                    <a:lumOff val="50000"/>
                  </a:schemeClr>
                </a:solidFill>
              </a:rPr>
              <a:t>{{mpfs_ctrl_ci}}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55684" y="1700784"/>
            <a:ext cx="1984248" cy="630936"/>
          </a:xfrm>
          <a:prstGeom prst="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3055684" y="1700784"/>
            <a:ext cx="27432" cy="6309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147125" y="1755649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>
                <a:solidFill>
                  <a:schemeClr val="tx1">
                    <a:lumMod val="50000"/>
                    <a:lumOff val="50000"/>
                  </a:schemeClr>
                </a:solidFill>
              </a:rPr>
              <a:t>{{orr_exp_label}}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196288" y="1834505"/>
            <a:ext cx="9921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{{orr_exp_value}}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755789" y="1889368"/>
            <a:ext cx="274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147125" y="2167128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{{orr_exp_detail}}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113084" y="1700784"/>
            <a:ext cx="1984248" cy="630936"/>
          </a:xfrm>
          <a:prstGeom prst="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113084" y="1700784"/>
            <a:ext cx="27432" cy="6309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204525" y="1755649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>
                <a:solidFill>
                  <a:schemeClr val="tx1">
                    <a:lumMod val="50000"/>
                    <a:lumOff val="50000"/>
                  </a:schemeClr>
                </a:solidFill>
              </a:rPr>
              <a:t>{{orr_ctrl_label}}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63515" y="1834505"/>
            <a:ext cx="9921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{{orr_ctrl_value}}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813188" y="1889368"/>
            <a:ext cx="274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</a:rPr>
              <a:t>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204525" y="2167128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>
                <a:solidFill>
                  <a:schemeClr val="tx1">
                    <a:lumMod val="50000"/>
                    <a:lumOff val="50000"/>
                  </a:schemeClr>
                </a:solidFill>
              </a:rPr>
              <a:t>{{orr_ctrl_detail}}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927668" y="2551176"/>
            <a:ext cx="4297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2927668" y="2551176"/>
            <a:ext cx="429768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055684" y="2642616"/>
            <a:ext cx="404164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/>
              <a:t>HAZARD RATIO · PRIMARY ENDPOINT (PFS)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55684" y="2744089"/>
            <a:ext cx="19339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0" i="0">
                <a:solidFill>
                  <a:srgbClr val="0F172A"/>
                </a:solidFill>
                <a:latin typeface="Arial"/>
              </a:defRPr>
            </a:pPr>
            <a:r>
              <a:rPr sz="2400" dirty="0"/>
              <a:t>{{hr_value}}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76508" y="2916937"/>
            <a:ext cx="17190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92400E"/>
                </a:solidFill>
                <a:latin typeface="Arial"/>
              </a:defRPr>
            </a:pPr>
            <a:r>
              <a:rPr sz="1000"/>
              <a:t>{{hr_conclusion}}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055684" y="3300984"/>
            <a:ext cx="40416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/>
              <a:t>{{hr_ci_p}}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55684" y="3538728"/>
            <a:ext cx="4041648" cy="512063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3037395" y="3538728"/>
            <a:ext cx="4059937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 dirty="0"/>
              <a:t>{{hr_interpretation}}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55684" y="4153961"/>
            <a:ext cx="404164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 dirty="0"/>
              <a:t>OVERALL SURVIVAL (SECONDARY)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055684" y="4331995"/>
            <a:ext cx="12923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 dirty="0" err="1"/>
              <a:t>{{os_exp_label}}</a:t>
            </a:r>
            <a:endParaRPr sz="700" dirty="0"/>
          </a:p>
        </p:txBody>
      </p:sp>
      <p:sp>
        <p:nvSpPr>
          <p:cNvPr id="92" name="TextBox 91"/>
          <p:cNvSpPr txBox="1"/>
          <p:nvPr/>
        </p:nvSpPr>
        <p:spPr>
          <a:xfrm>
            <a:off x="3055684" y="4479672"/>
            <a:ext cx="1292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rPr sz="1600" dirty="0"/>
              <a:t>{{os_exp_value}}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402900" y="4331995"/>
            <a:ext cx="12923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{{os_ctrl_label}}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402900" y="4479672"/>
            <a:ext cx="1292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rPr sz="1600" dirty="0"/>
              <a:t>{{os_ctrl_value}}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50116" y="4331995"/>
            <a:ext cx="12923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HR (OS)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750116" y="4479672"/>
            <a:ext cx="1292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rPr sz="1600" dirty="0"/>
              <a:t>{{os_hr_value}}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927668" y="5038345"/>
            <a:ext cx="4297680" cy="1408175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055684" y="5129785"/>
            <a:ext cx="404164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/>
              <a:t>ADDITIONAL ENDPOINTS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055684" y="5312665"/>
            <a:ext cx="12923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{{add_1_label}}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055684" y="5519336"/>
            <a:ext cx="1292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rPr sz="1600" dirty="0"/>
              <a:t>{{add_1_value}}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402900" y="5312665"/>
            <a:ext cx="12923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{{add_2_label}}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402900" y="5519336"/>
            <a:ext cx="1292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rPr sz="1600" dirty="0"/>
              <a:t>{{add_2_value}}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750116" y="5312665"/>
            <a:ext cx="12923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{{add_3_label}}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750116" y="5519336"/>
            <a:ext cx="1292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rPr sz="1600"/>
              <a:t>{{add_3_value}}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335076" y="612648"/>
            <a:ext cx="4690872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7335076" y="612648"/>
            <a:ext cx="4690872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7335076" y="877824"/>
            <a:ext cx="4690872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7463092" y="713232"/>
            <a:ext cx="64008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7572819" y="685800"/>
            <a:ext cx="42336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/>
              <a:t>{{chart_bar_title}}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426515" y="3575304"/>
            <a:ext cx="3108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792276" y="3630168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426515" y="2976590"/>
            <a:ext cx="3108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10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792276" y="3031453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426515" y="2377876"/>
            <a:ext cx="3108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20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792276" y="2432739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7426515" y="1779162"/>
            <a:ext cx="3108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30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792276" y="1834025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7426515" y="1180447"/>
            <a:ext cx="3108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40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792276" y="1235310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7792276" y="3630168"/>
            <a:ext cx="3959352" cy="91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7792276" y="1115568"/>
            <a:ext cx="9144" cy="25146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289356" y="935590"/>
            <a:ext cx="8458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lang="de-DE" sz="700"/>
              <a:t>{{chart_bar_y_label}}</a:t>
            </a:r>
            <a:endParaRPr sz="700" dirty="0"/>
          </a:p>
        </p:txBody>
      </p:sp>
      <p:sp>
        <p:nvSpPr>
          <p:cNvPr id="124" name="TextBox 123"/>
          <p:cNvSpPr txBox="1"/>
          <p:nvPr/>
        </p:nvSpPr>
        <p:spPr>
          <a:xfrm>
            <a:off x="8260785" y="3381104"/>
            <a:ext cx="12801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8B5CF6"/>
                </a:solidFill>
                <a:latin typeface="Arial"/>
              </a:defRPr>
            </a:pPr>
            <a:r>
              <a:rPr sz="1300" dirty="0">
                <a:solidFill>
                  <a:schemeClr val="bg1"/>
                </a:solidFill>
              </a:rPr>
              <a:t>{{chart_bar_exp_value}}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126033" y="3685031"/>
            <a:ext cx="146303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/>
              <a:t>{{chart_bar_exp_label}}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073201" y="3394750"/>
            <a:ext cx="12801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94A3B8"/>
                </a:solidFill>
                <a:latin typeface="Arial"/>
              </a:defRPr>
            </a:pPr>
            <a:r>
              <a:rPr sz="1300" dirty="0">
                <a:solidFill>
                  <a:schemeClr val="bg1"/>
                </a:solidFill>
              </a:rPr>
              <a:t>{{chart_bar_ctrl_value}}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954833" y="3685031"/>
            <a:ext cx="146303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sz="900"/>
              <a:t>{{chart_bar_ctrl_label}}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792276" y="3904488"/>
            <a:ext cx="39593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sz="700"/>
              <a:t>{{chart_bar_note}}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335076" y="4197096"/>
            <a:ext cx="4690872" cy="224942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7335076" y="4197096"/>
            <a:ext cx="4690872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7335076" y="4462272"/>
            <a:ext cx="4690872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7463092" y="4297680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7572819" y="4270248"/>
            <a:ext cx="42336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/>
              <a:t>{{chart_orr_title}}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975155" y="4599432"/>
            <a:ext cx="161391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rPr sz="700"/>
              <a:t>{{chart_orr_exp_label}}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863392" y="4599432"/>
            <a:ext cx="161391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/>
              <a:t>{{chart_orr_ctrl_label}}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335076" y="4800599"/>
            <a:ext cx="5852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475569"/>
                </a:solidFill>
                <a:latin typeface="Arial"/>
              </a:defRPr>
            </a:pPr>
            <a:r>
              <a:rPr sz="900" dirty="0"/>
              <a:t>CR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335077" y="5111494"/>
            <a:ext cx="64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475569"/>
                </a:solidFill>
                <a:latin typeface="Arial"/>
              </a:defRPr>
            </a:pPr>
            <a:r>
              <a:rPr sz="900" dirty="0"/>
              <a:t>VGPR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335078" y="5422390"/>
            <a:ext cx="5852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475569"/>
                </a:solidFill>
                <a:latin typeface="Arial"/>
              </a:defRPr>
            </a:pPr>
            <a:r>
              <a:rPr sz="900"/>
              <a:t>PR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588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1588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330772" y="6629401"/>
            <a:ext cx="64008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sz="700"/>
              <a:t>{{footer_refs}}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688388" y="6629401"/>
            <a:ext cx="3200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rPr sz="700"/>
              <a:t>{{confidence}}% Confidence · medaccur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900615" y="4768298"/>
            <a:ext cx="771905" cy="24622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{{chart_orr_cr_exp}}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906200" y="5081200"/>
            <a:ext cx="649963" cy="24622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{{chart_orr_vgpr_exp}}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908123" y="5394790"/>
            <a:ext cx="6480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{{chart_orr_pr_exp}}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767560" y="4773197"/>
            <a:ext cx="5661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{{chart_orr_cr_ctrl}}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788521" y="5084093"/>
            <a:ext cx="5447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{{chart_orr_vgpr_ctrl}}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799013" y="5405622"/>
            <a:ext cx="6035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{{chart_orr_pr_ctrl}}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499</Words>
  <Application>Microsoft Office PowerPoint</Application>
  <PresentationFormat>Widescreen</PresentationFormat>
  <Paragraphs>94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Bertan Bopp</dc:creator>
  <cp:lastModifiedBy>Bertan Bopp</cp:lastModifiedBy>
  <cp:revision>4</cp:revision>
  <dcterms:created xsi:type="dcterms:W3CDTF">2026-04-01T22:14:26Z</dcterms:created>
  <dcterms:modified xsi:type="dcterms:W3CDTF">2026-04-02T21:23:03Z</dcterms:modified>
</cp:coreProperties>
</file>