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EEF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548640"/>
          </a:xfrm>
          <a:prstGeom prst="rect">
            <a:avLst/>
          </a:prstGeom>
          <a:solidFill>
            <a:srgbClr val="1E1B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74320" y="91440"/>
            <a:ext cx="9144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 sz="1300">
                <a:solidFill>
                  <a:srgbClr val="FFFFFF"/>
                </a:solidFill>
              </a:rPr>
              <a:t>med</a:t>
            </a:r>
            <a:r>
              <a:rPr b="0" sz="1300">
                <a:solidFill>
                  <a:srgbClr val="7C6FFF"/>
                </a:solidFill>
              </a:rPr>
              <a:t>accur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371600" y="91440"/>
            <a:ext cx="2011680" cy="320040"/>
          </a:xfrm>
          <a:prstGeom prst="roundRect">
            <a:avLst/>
          </a:prstGeom>
          <a:solidFill>
            <a:srgbClr val="2D28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defRPr sz="900" b="1">
                <a:solidFill>
                  <a:srgbClr val="FFFFFF"/>
                </a:solidFill>
              </a:defRPr>
            </a:pPr>
            <a:r>
              <a:t>HEAD-TO-HEAD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474720" y="109728"/>
            <a:ext cx="45720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>
                <a:solidFill>
                  <a:srgbClr val="CBD5E1"/>
                </a:solidFill>
              </a:defRPr>
            </a:pPr>
            <a:r>
              <a:t>{{drug_label}}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412480" y="91440"/>
            <a:ext cx="1371600" cy="320040"/>
          </a:xfrm>
          <a:prstGeom prst="roundRect">
            <a:avLst/>
          </a:prstGeom>
          <a:solidFill>
            <a:srgbClr val="2D28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00">
                <a:solidFill>
                  <a:srgbClr val="FFFFFF"/>
                </a:solidFill>
              </a:defRPr>
            </a:pPr>
            <a:r>
              <a:t>{{phase_badge}}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9875520" y="91440"/>
            <a:ext cx="1371600" cy="320040"/>
          </a:xfrm>
          <a:prstGeom prst="roundRect">
            <a:avLst/>
          </a:prstGeom>
          <a:solidFill>
            <a:srgbClr val="7C6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00">
                <a:solidFill>
                  <a:srgbClr val="FFFFFF"/>
                </a:solidFill>
              </a:defRPr>
            </a:pPr>
            <a:r>
              <a:t>{{scope_badge}}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182880" y="640080"/>
            <a:ext cx="11795760" cy="585216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65760" y="731520"/>
            <a:ext cx="73152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1E293B"/>
                </a:solidFill>
              </a:defRPr>
            </a:pPr>
            <a:r>
              <a:t>{{h2h_title}}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65760" y="1005840"/>
            <a:ext cx="73152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94A3B8"/>
                </a:solidFill>
              </a:defRPr>
            </a:pPr>
            <a:r>
              <a:t>{{h2h_subtitle}}</a:t>
            </a:r>
          </a:p>
        </p:txBody>
      </p:sp>
      <p:sp>
        <p:nvSpPr>
          <p:cNvPr id="12" name="Rectangle 11"/>
          <p:cNvSpPr/>
          <p:nvPr/>
        </p:nvSpPr>
        <p:spPr>
          <a:xfrm>
            <a:off x="365760" y="1371600"/>
            <a:ext cx="11430000" cy="320040"/>
          </a:xfrm>
          <a:prstGeom prst="rect">
            <a:avLst/>
          </a:prstGeom>
          <a:solidFill>
            <a:srgbClr val="1E1B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57200" y="1389888"/>
            <a:ext cx="2103120" cy="2834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800" b="1">
                <a:solidFill>
                  <a:srgbClr val="FFFFFF"/>
                </a:solidFill>
              </a:defRPr>
            </a:pPr>
            <a:r>
              <a:t>Parameter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743200" y="1389888"/>
            <a:ext cx="1645920" cy="2834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800" b="1">
                <a:solidFill>
                  <a:srgbClr val="FFFFFF"/>
                </a:solidFill>
              </a:defRPr>
            </a:pPr>
            <a:r>
              <a:t>{{h2h_drug_1}}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72000" y="1389888"/>
            <a:ext cx="1645920" cy="2834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800" b="1">
                <a:solidFill>
                  <a:srgbClr val="FFFFFF"/>
                </a:solidFill>
              </a:defRPr>
            </a:pPr>
            <a:r>
              <a:t>{{h2h_drug_2}}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00800" y="1389888"/>
            <a:ext cx="1645920" cy="2834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800" b="1">
                <a:solidFill>
                  <a:srgbClr val="FFFFFF"/>
                </a:solidFill>
              </a:defRPr>
            </a:pPr>
            <a:r>
              <a:t>{{h2h_drug_3}}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229600" y="1389888"/>
            <a:ext cx="1645920" cy="2834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800" b="1">
                <a:solidFill>
                  <a:srgbClr val="FFFFFF"/>
                </a:solidFill>
              </a:defRPr>
            </a:pPr>
            <a:r>
              <a:t>{{h2h_drug_4}}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058400" y="1389888"/>
            <a:ext cx="1645920" cy="2834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800" b="1">
                <a:solidFill>
                  <a:srgbClr val="FFFFFF"/>
                </a:solidFill>
              </a:defRPr>
            </a:pPr>
            <a:r>
              <a:t>{{h2h_drug_5}}</a:t>
            </a:r>
          </a:p>
        </p:txBody>
      </p:sp>
      <p:sp>
        <p:nvSpPr>
          <p:cNvPr id="19" name="Rectangle 18"/>
          <p:cNvSpPr/>
          <p:nvPr/>
        </p:nvSpPr>
        <p:spPr>
          <a:xfrm>
            <a:off x="365760" y="1719072"/>
            <a:ext cx="11430000" cy="36576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457200" y="1737360"/>
            <a:ext cx="210312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850">
                <a:solidFill>
                  <a:srgbClr val="1E293B"/>
                </a:solidFill>
              </a:defRPr>
            </a:pPr>
            <a:r>
              <a:t>Mechanism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2743200" y="1737360"/>
            <a:ext cx="164592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850">
                <a:solidFill>
                  <a:srgbClr val="1E293B"/>
                </a:solidFill>
              </a:defRPr>
            </a:pPr>
            <a:r>
              <a:t>{{h2h_1_mechanism}}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572000" y="1737360"/>
            <a:ext cx="164592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850">
                <a:solidFill>
                  <a:srgbClr val="1E293B"/>
                </a:solidFill>
              </a:defRPr>
            </a:pPr>
            <a:r>
              <a:t>{{h2h_2_mechanism}}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400800" y="1737360"/>
            <a:ext cx="164592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850">
                <a:solidFill>
                  <a:srgbClr val="1E293B"/>
                </a:solidFill>
              </a:defRPr>
            </a:pPr>
            <a:r>
              <a:t>{{h2h_3_mechanism}}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229600" y="1737360"/>
            <a:ext cx="164592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850">
                <a:solidFill>
                  <a:srgbClr val="1E293B"/>
                </a:solidFill>
              </a:defRPr>
            </a:pPr>
            <a:r>
              <a:t>{{h2h_4_mechanism}}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0058400" y="1737360"/>
            <a:ext cx="164592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850">
                <a:solidFill>
                  <a:srgbClr val="1E293B"/>
                </a:solidFill>
              </a:defRPr>
            </a:pPr>
            <a:r>
              <a:t>{{h2h_5_mechanism}}</a:t>
            </a:r>
          </a:p>
        </p:txBody>
      </p:sp>
      <p:sp>
        <p:nvSpPr>
          <p:cNvPr id="26" name="Rectangle 25"/>
          <p:cNvSpPr/>
          <p:nvPr/>
        </p:nvSpPr>
        <p:spPr>
          <a:xfrm>
            <a:off x="365760" y="2066543"/>
            <a:ext cx="11430000" cy="36576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457200" y="2084831"/>
            <a:ext cx="210312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850">
                <a:solidFill>
                  <a:srgbClr val="1E293B"/>
                </a:solidFill>
              </a:defRPr>
            </a:pPr>
            <a:r>
              <a:t>Key Trial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2743200" y="2084831"/>
            <a:ext cx="164592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850">
                <a:solidFill>
                  <a:srgbClr val="1E293B"/>
                </a:solidFill>
              </a:defRPr>
            </a:pPr>
            <a:r>
              <a:t>{{h2h_1_trial}}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572000" y="2084831"/>
            <a:ext cx="164592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850">
                <a:solidFill>
                  <a:srgbClr val="1E293B"/>
                </a:solidFill>
              </a:defRPr>
            </a:pPr>
            <a:r>
              <a:t>{{h2h_2_trial}}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400800" y="2084831"/>
            <a:ext cx="164592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850">
                <a:solidFill>
                  <a:srgbClr val="1E293B"/>
                </a:solidFill>
              </a:defRPr>
            </a:pPr>
            <a:r>
              <a:t>{{h2h_3_trial}}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229600" y="2084831"/>
            <a:ext cx="164592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850">
                <a:solidFill>
                  <a:srgbClr val="1E293B"/>
                </a:solidFill>
              </a:defRPr>
            </a:pPr>
            <a:r>
              <a:t>{{h2h_4_trial}}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0058400" y="2084831"/>
            <a:ext cx="164592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850">
                <a:solidFill>
                  <a:srgbClr val="1E293B"/>
                </a:solidFill>
              </a:defRPr>
            </a:pPr>
            <a:r>
              <a:t>{{h2h_5_trial}}</a:t>
            </a:r>
          </a:p>
        </p:txBody>
      </p:sp>
      <p:sp>
        <p:nvSpPr>
          <p:cNvPr id="33" name="Rectangle 32"/>
          <p:cNvSpPr/>
          <p:nvPr/>
        </p:nvSpPr>
        <p:spPr>
          <a:xfrm>
            <a:off x="365760" y="2414015"/>
            <a:ext cx="11430000" cy="36576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457200" y="2432303"/>
            <a:ext cx="210312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850">
                <a:solidFill>
                  <a:srgbClr val="1E293B"/>
                </a:solidFill>
              </a:defRPr>
            </a:pPr>
            <a:r>
              <a:t>Patient Population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2743200" y="2432303"/>
            <a:ext cx="164592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850">
                <a:solidFill>
                  <a:srgbClr val="1E293B"/>
                </a:solidFill>
              </a:defRPr>
            </a:pPr>
            <a:r>
              <a:t>{{h2h_1_population}}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4572000" y="2432303"/>
            <a:ext cx="164592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850">
                <a:solidFill>
                  <a:srgbClr val="1E293B"/>
                </a:solidFill>
              </a:defRPr>
            </a:pPr>
            <a:r>
              <a:t>{{h2h_2_population}}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400800" y="2432303"/>
            <a:ext cx="164592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850">
                <a:solidFill>
                  <a:srgbClr val="1E293B"/>
                </a:solidFill>
              </a:defRPr>
            </a:pPr>
            <a:r>
              <a:t>{{h2h_3_population}}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8229600" y="2432303"/>
            <a:ext cx="164592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850">
                <a:solidFill>
                  <a:srgbClr val="1E293B"/>
                </a:solidFill>
              </a:defRPr>
            </a:pPr>
            <a:r>
              <a:t>{{h2h_4_population}}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10058400" y="2432303"/>
            <a:ext cx="164592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850">
                <a:solidFill>
                  <a:srgbClr val="1E293B"/>
                </a:solidFill>
              </a:defRPr>
            </a:pPr>
            <a:r>
              <a:t>{{h2h_5_population}}</a:t>
            </a:r>
          </a:p>
        </p:txBody>
      </p:sp>
      <p:sp>
        <p:nvSpPr>
          <p:cNvPr id="40" name="Rectangle 39"/>
          <p:cNvSpPr/>
          <p:nvPr/>
        </p:nvSpPr>
        <p:spPr>
          <a:xfrm>
            <a:off x="365760" y="2761487"/>
            <a:ext cx="11430000" cy="36576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457200" y="2779775"/>
            <a:ext cx="210312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850">
                <a:solidFill>
                  <a:srgbClr val="1E293B"/>
                </a:solidFill>
              </a:defRPr>
            </a:pPr>
            <a:r>
              <a:t>Restriction / Biomarker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2743200" y="2779775"/>
            <a:ext cx="164592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850">
                <a:solidFill>
                  <a:srgbClr val="1E293B"/>
                </a:solidFill>
              </a:defRPr>
            </a:pPr>
            <a:r>
              <a:t>{{h2h_1_restriction}}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4572000" y="2779775"/>
            <a:ext cx="164592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850">
                <a:solidFill>
                  <a:srgbClr val="1E293B"/>
                </a:solidFill>
              </a:defRPr>
            </a:pPr>
            <a:r>
              <a:t>{{h2h_2_restriction}}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6400800" y="2779775"/>
            <a:ext cx="164592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850">
                <a:solidFill>
                  <a:srgbClr val="1E293B"/>
                </a:solidFill>
              </a:defRPr>
            </a:pPr>
            <a:r>
              <a:t>{{h2h_3_restriction}}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8229600" y="2779775"/>
            <a:ext cx="164592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850">
                <a:solidFill>
                  <a:srgbClr val="1E293B"/>
                </a:solidFill>
              </a:defRPr>
            </a:pPr>
            <a:r>
              <a:t>{{h2h_4_restriction}}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10058400" y="2779775"/>
            <a:ext cx="164592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850">
                <a:solidFill>
                  <a:srgbClr val="1E293B"/>
                </a:solidFill>
              </a:defRPr>
            </a:pPr>
            <a:r>
              <a:t>{{h2h_5_restriction}}</a:t>
            </a:r>
          </a:p>
        </p:txBody>
      </p:sp>
      <p:sp>
        <p:nvSpPr>
          <p:cNvPr id="47" name="Rectangle 46"/>
          <p:cNvSpPr/>
          <p:nvPr/>
        </p:nvSpPr>
        <p:spPr>
          <a:xfrm>
            <a:off x="365760" y="3108959"/>
            <a:ext cx="11430000" cy="36576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457200" y="3127247"/>
            <a:ext cx="210312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850">
                <a:solidFill>
                  <a:srgbClr val="1E293B"/>
                </a:solidFill>
              </a:defRPr>
            </a:pPr>
            <a:r>
              <a:t>Primary Endpoint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2743200" y="3127247"/>
            <a:ext cx="164592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850">
                <a:solidFill>
                  <a:srgbClr val="1E293B"/>
                </a:solidFill>
              </a:defRPr>
            </a:pPr>
            <a:r>
              <a:t>{{h2h_1_endpoint}}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4572000" y="3127247"/>
            <a:ext cx="164592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850">
                <a:solidFill>
                  <a:srgbClr val="1E293B"/>
                </a:solidFill>
              </a:defRPr>
            </a:pPr>
            <a:r>
              <a:t>{{h2h_2_endpoint}}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6400800" y="3127247"/>
            <a:ext cx="164592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850">
                <a:solidFill>
                  <a:srgbClr val="1E293B"/>
                </a:solidFill>
              </a:defRPr>
            </a:pPr>
            <a:r>
              <a:t>{{h2h_3_endpoint}}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8229600" y="3127247"/>
            <a:ext cx="164592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850">
                <a:solidFill>
                  <a:srgbClr val="1E293B"/>
                </a:solidFill>
              </a:defRPr>
            </a:pPr>
            <a:r>
              <a:t>{{h2h_4_endpoint}}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10058400" y="3127247"/>
            <a:ext cx="164592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850">
                <a:solidFill>
                  <a:srgbClr val="1E293B"/>
                </a:solidFill>
              </a:defRPr>
            </a:pPr>
            <a:r>
              <a:t>{{h2h_5_endpoint}}</a:t>
            </a:r>
          </a:p>
        </p:txBody>
      </p:sp>
      <p:sp>
        <p:nvSpPr>
          <p:cNvPr id="54" name="Rectangle 53"/>
          <p:cNvSpPr/>
          <p:nvPr/>
        </p:nvSpPr>
        <p:spPr>
          <a:xfrm>
            <a:off x="365760" y="3456431"/>
            <a:ext cx="11430000" cy="36576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457200" y="3474719"/>
            <a:ext cx="210312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850">
                <a:solidFill>
                  <a:srgbClr val="1E293B"/>
                </a:solidFill>
              </a:defRPr>
            </a:pPr>
            <a:r>
              <a:t>ORR / Response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2743200" y="3474719"/>
            <a:ext cx="164592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850">
                <a:solidFill>
                  <a:srgbClr val="1E293B"/>
                </a:solidFill>
              </a:defRPr>
            </a:pPr>
            <a:r>
              <a:t>{{h2h_1_orr}}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4572000" y="3474719"/>
            <a:ext cx="164592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850">
                <a:solidFill>
                  <a:srgbClr val="1E293B"/>
                </a:solidFill>
              </a:defRPr>
            </a:pPr>
            <a:r>
              <a:t>{{h2h_2_orr}}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6400800" y="3474719"/>
            <a:ext cx="164592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850">
                <a:solidFill>
                  <a:srgbClr val="1E293B"/>
                </a:solidFill>
              </a:defRPr>
            </a:pPr>
            <a:r>
              <a:t>{{h2h_3_orr}}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8229600" y="3474719"/>
            <a:ext cx="164592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850">
                <a:solidFill>
                  <a:srgbClr val="1E293B"/>
                </a:solidFill>
              </a:defRPr>
            </a:pPr>
            <a:r>
              <a:t>{{h2h_4_orr}}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10058400" y="3474719"/>
            <a:ext cx="164592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850">
                <a:solidFill>
                  <a:srgbClr val="1E293B"/>
                </a:solidFill>
              </a:defRPr>
            </a:pPr>
            <a:r>
              <a:t>{{h2h_5_orr}}</a:t>
            </a:r>
          </a:p>
        </p:txBody>
      </p:sp>
      <p:sp>
        <p:nvSpPr>
          <p:cNvPr id="61" name="Rectangle 60"/>
          <p:cNvSpPr/>
          <p:nvPr/>
        </p:nvSpPr>
        <p:spPr>
          <a:xfrm>
            <a:off x="365760" y="3803903"/>
            <a:ext cx="11430000" cy="36576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TextBox 61"/>
          <p:cNvSpPr txBox="1"/>
          <p:nvPr/>
        </p:nvSpPr>
        <p:spPr>
          <a:xfrm>
            <a:off x="457200" y="3822191"/>
            <a:ext cx="210312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850">
                <a:solidFill>
                  <a:srgbClr val="1E293B"/>
                </a:solidFill>
              </a:defRPr>
            </a:pPr>
            <a:r>
              <a:t>mPFS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2743200" y="3822191"/>
            <a:ext cx="164592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850">
                <a:solidFill>
                  <a:srgbClr val="1E293B"/>
                </a:solidFill>
              </a:defRPr>
            </a:pPr>
            <a:r>
              <a:t>{{h2h_1_mpfs}}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4572000" y="3822191"/>
            <a:ext cx="164592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850">
                <a:solidFill>
                  <a:srgbClr val="1E293B"/>
                </a:solidFill>
              </a:defRPr>
            </a:pPr>
            <a:r>
              <a:t>{{h2h_2_mpfs}}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6400800" y="3822191"/>
            <a:ext cx="164592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850">
                <a:solidFill>
                  <a:srgbClr val="1E293B"/>
                </a:solidFill>
              </a:defRPr>
            </a:pPr>
            <a:r>
              <a:t>{{h2h_3_mpfs}}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8229600" y="3822191"/>
            <a:ext cx="164592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850">
                <a:solidFill>
                  <a:srgbClr val="1E293B"/>
                </a:solidFill>
              </a:defRPr>
            </a:pPr>
            <a:r>
              <a:t>{{h2h_4_mpfs}}</a:t>
            </a:r>
          </a:p>
        </p:txBody>
      </p:sp>
      <p:sp>
        <p:nvSpPr>
          <p:cNvPr id="67" name="TextBox 66"/>
          <p:cNvSpPr txBox="1"/>
          <p:nvPr/>
        </p:nvSpPr>
        <p:spPr>
          <a:xfrm>
            <a:off x="10058400" y="3822191"/>
            <a:ext cx="164592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850">
                <a:solidFill>
                  <a:srgbClr val="1E293B"/>
                </a:solidFill>
              </a:defRPr>
            </a:pPr>
            <a:r>
              <a:t>{{h2h_5_mpfs}}</a:t>
            </a:r>
          </a:p>
        </p:txBody>
      </p:sp>
      <p:sp>
        <p:nvSpPr>
          <p:cNvPr id="68" name="Rectangle 67"/>
          <p:cNvSpPr/>
          <p:nvPr/>
        </p:nvSpPr>
        <p:spPr>
          <a:xfrm>
            <a:off x="365760" y="4151375"/>
            <a:ext cx="11430000" cy="36576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TextBox 68"/>
          <p:cNvSpPr txBox="1"/>
          <p:nvPr/>
        </p:nvSpPr>
        <p:spPr>
          <a:xfrm>
            <a:off x="457200" y="4169663"/>
            <a:ext cx="210312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850">
                <a:solidFill>
                  <a:srgbClr val="1E293B"/>
                </a:solidFill>
              </a:defRPr>
            </a:pPr>
            <a:r>
              <a:t>HR (95% CI)</a:t>
            </a:r>
          </a:p>
        </p:txBody>
      </p:sp>
      <p:sp>
        <p:nvSpPr>
          <p:cNvPr id="70" name="TextBox 69"/>
          <p:cNvSpPr txBox="1"/>
          <p:nvPr/>
        </p:nvSpPr>
        <p:spPr>
          <a:xfrm>
            <a:off x="2743200" y="4169663"/>
            <a:ext cx="164592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850">
                <a:solidFill>
                  <a:srgbClr val="1E293B"/>
                </a:solidFill>
              </a:defRPr>
            </a:pPr>
            <a:r>
              <a:t>{{h2h_1_hr}}</a:t>
            </a:r>
          </a:p>
        </p:txBody>
      </p:sp>
      <p:sp>
        <p:nvSpPr>
          <p:cNvPr id="71" name="TextBox 70"/>
          <p:cNvSpPr txBox="1"/>
          <p:nvPr/>
        </p:nvSpPr>
        <p:spPr>
          <a:xfrm>
            <a:off x="4572000" y="4169663"/>
            <a:ext cx="164592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850">
                <a:solidFill>
                  <a:srgbClr val="1E293B"/>
                </a:solidFill>
              </a:defRPr>
            </a:pPr>
            <a:r>
              <a:t>{{h2h_2_hr}}</a:t>
            </a:r>
          </a:p>
        </p:txBody>
      </p:sp>
      <p:sp>
        <p:nvSpPr>
          <p:cNvPr id="72" name="TextBox 71"/>
          <p:cNvSpPr txBox="1"/>
          <p:nvPr/>
        </p:nvSpPr>
        <p:spPr>
          <a:xfrm>
            <a:off x="6400800" y="4169663"/>
            <a:ext cx="164592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850">
                <a:solidFill>
                  <a:srgbClr val="1E293B"/>
                </a:solidFill>
              </a:defRPr>
            </a:pPr>
            <a:r>
              <a:t>{{h2h_3_hr}}</a:t>
            </a:r>
          </a:p>
        </p:txBody>
      </p:sp>
      <p:sp>
        <p:nvSpPr>
          <p:cNvPr id="73" name="TextBox 72"/>
          <p:cNvSpPr txBox="1"/>
          <p:nvPr/>
        </p:nvSpPr>
        <p:spPr>
          <a:xfrm>
            <a:off x="8229600" y="4169663"/>
            <a:ext cx="164592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850">
                <a:solidFill>
                  <a:srgbClr val="1E293B"/>
                </a:solidFill>
              </a:defRPr>
            </a:pPr>
            <a:r>
              <a:t>{{h2h_4_hr}}</a:t>
            </a:r>
          </a:p>
        </p:txBody>
      </p:sp>
      <p:sp>
        <p:nvSpPr>
          <p:cNvPr id="74" name="TextBox 73"/>
          <p:cNvSpPr txBox="1"/>
          <p:nvPr/>
        </p:nvSpPr>
        <p:spPr>
          <a:xfrm>
            <a:off x="10058400" y="4169663"/>
            <a:ext cx="164592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850">
                <a:solidFill>
                  <a:srgbClr val="1E293B"/>
                </a:solidFill>
              </a:defRPr>
            </a:pPr>
            <a:r>
              <a:t>{{h2h_5_hr}}</a:t>
            </a:r>
          </a:p>
        </p:txBody>
      </p:sp>
      <p:sp>
        <p:nvSpPr>
          <p:cNvPr id="75" name="Rectangle 74"/>
          <p:cNvSpPr/>
          <p:nvPr/>
        </p:nvSpPr>
        <p:spPr>
          <a:xfrm>
            <a:off x="365760" y="4498847"/>
            <a:ext cx="11430000" cy="36576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6" name="TextBox 75"/>
          <p:cNvSpPr txBox="1"/>
          <p:nvPr/>
        </p:nvSpPr>
        <p:spPr>
          <a:xfrm>
            <a:off x="457200" y="4517135"/>
            <a:ext cx="210312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850">
                <a:solidFill>
                  <a:srgbClr val="1E293B"/>
                </a:solidFill>
              </a:defRPr>
            </a:pPr>
            <a:r>
              <a:t>mOS</a:t>
            </a:r>
          </a:p>
        </p:txBody>
      </p:sp>
      <p:sp>
        <p:nvSpPr>
          <p:cNvPr id="77" name="TextBox 76"/>
          <p:cNvSpPr txBox="1"/>
          <p:nvPr/>
        </p:nvSpPr>
        <p:spPr>
          <a:xfrm>
            <a:off x="2743200" y="4517135"/>
            <a:ext cx="164592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850">
                <a:solidFill>
                  <a:srgbClr val="1E293B"/>
                </a:solidFill>
              </a:defRPr>
            </a:pPr>
            <a:r>
              <a:t>{{h2h_1_mos}}</a:t>
            </a:r>
          </a:p>
        </p:txBody>
      </p:sp>
      <p:sp>
        <p:nvSpPr>
          <p:cNvPr id="78" name="TextBox 77"/>
          <p:cNvSpPr txBox="1"/>
          <p:nvPr/>
        </p:nvSpPr>
        <p:spPr>
          <a:xfrm>
            <a:off x="4572000" y="4517135"/>
            <a:ext cx="164592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850">
                <a:solidFill>
                  <a:srgbClr val="1E293B"/>
                </a:solidFill>
              </a:defRPr>
            </a:pPr>
            <a:r>
              <a:t>{{h2h_2_mos}}</a:t>
            </a:r>
          </a:p>
        </p:txBody>
      </p:sp>
      <p:sp>
        <p:nvSpPr>
          <p:cNvPr id="79" name="TextBox 78"/>
          <p:cNvSpPr txBox="1"/>
          <p:nvPr/>
        </p:nvSpPr>
        <p:spPr>
          <a:xfrm>
            <a:off x="6400800" y="4517135"/>
            <a:ext cx="164592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850">
                <a:solidFill>
                  <a:srgbClr val="1E293B"/>
                </a:solidFill>
              </a:defRPr>
            </a:pPr>
            <a:r>
              <a:t>{{h2h_3_mos}}</a:t>
            </a:r>
          </a:p>
        </p:txBody>
      </p:sp>
      <p:sp>
        <p:nvSpPr>
          <p:cNvPr id="80" name="TextBox 79"/>
          <p:cNvSpPr txBox="1"/>
          <p:nvPr/>
        </p:nvSpPr>
        <p:spPr>
          <a:xfrm>
            <a:off x="8229600" y="4517135"/>
            <a:ext cx="164592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850">
                <a:solidFill>
                  <a:srgbClr val="1E293B"/>
                </a:solidFill>
              </a:defRPr>
            </a:pPr>
            <a:r>
              <a:t>{{h2h_4_mos}}</a:t>
            </a:r>
          </a:p>
        </p:txBody>
      </p:sp>
      <p:sp>
        <p:nvSpPr>
          <p:cNvPr id="81" name="TextBox 80"/>
          <p:cNvSpPr txBox="1"/>
          <p:nvPr/>
        </p:nvSpPr>
        <p:spPr>
          <a:xfrm>
            <a:off x="10058400" y="4517135"/>
            <a:ext cx="164592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850">
                <a:solidFill>
                  <a:srgbClr val="1E293B"/>
                </a:solidFill>
              </a:defRPr>
            </a:pPr>
            <a:r>
              <a:t>{{h2h_5_mos}}</a:t>
            </a:r>
          </a:p>
        </p:txBody>
      </p:sp>
      <p:sp>
        <p:nvSpPr>
          <p:cNvPr id="82" name="Rectangle 81"/>
          <p:cNvSpPr/>
          <p:nvPr/>
        </p:nvSpPr>
        <p:spPr>
          <a:xfrm>
            <a:off x="365760" y="4846319"/>
            <a:ext cx="11430000" cy="36576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3" name="TextBox 82"/>
          <p:cNvSpPr txBox="1"/>
          <p:nvPr/>
        </p:nvSpPr>
        <p:spPr>
          <a:xfrm>
            <a:off x="457200" y="4864607"/>
            <a:ext cx="210312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850">
                <a:solidFill>
                  <a:srgbClr val="1E293B"/>
                </a:solidFill>
              </a:defRPr>
            </a:pPr>
            <a:r>
              <a:t>Grade ≥3 AE</a:t>
            </a:r>
          </a:p>
        </p:txBody>
      </p:sp>
      <p:sp>
        <p:nvSpPr>
          <p:cNvPr id="84" name="TextBox 83"/>
          <p:cNvSpPr txBox="1"/>
          <p:nvPr/>
        </p:nvSpPr>
        <p:spPr>
          <a:xfrm>
            <a:off x="2743200" y="4864607"/>
            <a:ext cx="164592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850">
                <a:solidFill>
                  <a:srgbClr val="1E293B"/>
                </a:solidFill>
              </a:defRPr>
            </a:pPr>
            <a:r>
              <a:t>{{h2h_1_ae}}</a:t>
            </a:r>
          </a:p>
        </p:txBody>
      </p:sp>
      <p:sp>
        <p:nvSpPr>
          <p:cNvPr id="85" name="TextBox 84"/>
          <p:cNvSpPr txBox="1"/>
          <p:nvPr/>
        </p:nvSpPr>
        <p:spPr>
          <a:xfrm>
            <a:off x="4572000" y="4864607"/>
            <a:ext cx="164592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850">
                <a:solidFill>
                  <a:srgbClr val="1E293B"/>
                </a:solidFill>
              </a:defRPr>
            </a:pPr>
            <a:r>
              <a:t>{{h2h_2_ae}}</a:t>
            </a:r>
          </a:p>
        </p:txBody>
      </p:sp>
      <p:sp>
        <p:nvSpPr>
          <p:cNvPr id="86" name="TextBox 85"/>
          <p:cNvSpPr txBox="1"/>
          <p:nvPr/>
        </p:nvSpPr>
        <p:spPr>
          <a:xfrm>
            <a:off x="6400800" y="4864607"/>
            <a:ext cx="164592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850">
                <a:solidFill>
                  <a:srgbClr val="1E293B"/>
                </a:solidFill>
              </a:defRPr>
            </a:pPr>
            <a:r>
              <a:t>{{h2h_3_ae}}</a:t>
            </a:r>
          </a:p>
        </p:txBody>
      </p:sp>
      <p:sp>
        <p:nvSpPr>
          <p:cNvPr id="87" name="TextBox 86"/>
          <p:cNvSpPr txBox="1"/>
          <p:nvPr/>
        </p:nvSpPr>
        <p:spPr>
          <a:xfrm>
            <a:off x="8229600" y="4864607"/>
            <a:ext cx="164592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850">
                <a:solidFill>
                  <a:srgbClr val="1E293B"/>
                </a:solidFill>
              </a:defRPr>
            </a:pPr>
            <a:r>
              <a:t>{{h2h_4_ae}}</a:t>
            </a:r>
          </a:p>
        </p:txBody>
      </p:sp>
      <p:sp>
        <p:nvSpPr>
          <p:cNvPr id="88" name="TextBox 87"/>
          <p:cNvSpPr txBox="1"/>
          <p:nvPr/>
        </p:nvSpPr>
        <p:spPr>
          <a:xfrm>
            <a:off x="10058400" y="4864607"/>
            <a:ext cx="164592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850">
                <a:solidFill>
                  <a:srgbClr val="1E293B"/>
                </a:solidFill>
              </a:defRPr>
            </a:pPr>
            <a:r>
              <a:t>{{h2h_5_ae}}</a:t>
            </a:r>
          </a:p>
        </p:txBody>
      </p:sp>
      <p:sp>
        <p:nvSpPr>
          <p:cNvPr id="89" name="Rectangle 88"/>
          <p:cNvSpPr/>
          <p:nvPr/>
        </p:nvSpPr>
        <p:spPr>
          <a:xfrm>
            <a:off x="365760" y="5193791"/>
            <a:ext cx="11430000" cy="36576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0" name="TextBox 89"/>
          <p:cNvSpPr txBox="1"/>
          <p:nvPr/>
        </p:nvSpPr>
        <p:spPr>
          <a:xfrm>
            <a:off x="457200" y="5212079"/>
            <a:ext cx="210312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850">
                <a:solidFill>
                  <a:srgbClr val="1E293B"/>
                </a:solidFill>
              </a:defRPr>
            </a:pPr>
            <a:r>
              <a:t>Route / Schedule</a:t>
            </a:r>
          </a:p>
        </p:txBody>
      </p:sp>
      <p:sp>
        <p:nvSpPr>
          <p:cNvPr id="91" name="TextBox 90"/>
          <p:cNvSpPr txBox="1"/>
          <p:nvPr/>
        </p:nvSpPr>
        <p:spPr>
          <a:xfrm>
            <a:off x="2743200" y="5212079"/>
            <a:ext cx="164592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850">
                <a:solidFill>
                  <a:srgbClr val="1E293B"/>
                </a:solidFill>
              </a:defRPr>
            </a:pPr>
            <a:r>
              <a:t>{{h2h_1_route}}</a:t>
            </a:r>
          </a:p>
        </p:txBody>
      </p:sp>
      <p:sp>
        <p:nvSpPr>
          <p:cNvPr id="92" name="TextBox 91"/>
          <p:cNvSpPr txBox="1"/>
          <p:nvPr/>
        </p:nvSpPr>
        <p:spPr>
          <a:xfrm>
            <a:off x="4572000" y="5212079"/>
            <a:ext cx="164592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850">
                <a:solidFill>
                  <a:srgbClr val="1E293B"/>
                </a:solidFill>
              </a:defRPr>
            </a:pPr>
            <a:r>
              <a:t>{{h2h_2_route}}</a:t>
            </a:r>
          </a:p>
        </p:txBody>
      </p:sp>
      <p:sp>
        <p:nvSpPr>
          <p:cNvPr id="93" name="TextBox 92"/>
          <p:cNvSpPr txBox="1"/>
          <p:nvPr/>
        </p:nvSpPr>
        <p:spPr>
          <a:xfrm>
            <a:off x="6400800" y="5212079"/>
            <a:ext cx="164592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850">
                <a:solidFill>
                  <a:srgbClr val="1E293B"/>
                </a:solidFill>
              </a:defRPr>
            </a:pPr>
            <a:r>
              <a:t>{{h2h_3_route}}</a:t>
            </a:r>
          </a:p>
        </p:txBody>
      </p:sp>
      <p:sp>
        <p:nvSpPr>
          <p:cNvPr id="94" name="TextBox 93"/>
          <p:cNvSpPr txBox="1"/>
          <p:nvPr/>
        </p:nvSpPr>
        <p:spPr>
          <a:xfrm>
            <a:off x="8229600" y="5212079"/>
            <a:ext cx="164592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850">
                <a:solidFill>
                  <a:srgbClr val="1E293B"/>
                </a:solidFill>
              </a:defRPr>
            </a:pPr>
            <a:r>
              <a:t>{{h2h_4_route}}</a:t>
            </a:r>
          </a:p>
        </p:txBody>
      </p:sp>
      <p:sp>
        <p:nvSpPr>
          <p:cNvPr id="95" name="TextBox 94"/>
          <p:cNvSpPr txBox="1"/>
          <p:nvPr/>
        </p:nvSpPr>
        <p:spPr>
          <a:xfrm>
            <a:off x="10058400" y="5212079"/>
            <a:ext cx="164592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850">
                <a:solidFill>
                  <a:srgbClr val="1E293B"/>
                </a:solidFill>
              </a:defRPr>
            </a:pPr>
            <a:r>
              <a:t>{{h2h_5_route}}</a:t>
            </a:r>
          </a:p>
        </p:txBody>
      </p:sp>
      <p:sp>
        <p:nvSpPr>
          <p:cNvPr id="96" name="Rectangle 95"/>
          <p:cNvSpPr/>
          <p:nvPr/>
        </p:nvSpPr>
        <p:spPr>
          <a:xfrm>
            <a:off x="365760" y="5541263"/>
            <a:ext cx="11430000" cy="36576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7" name="TextBox 96"/>
          <p:cNvSpPr txBox="1"/>
          <p:nvPr/>
        </p:nvSpPr>
        <p:spPr>
          <a:xfrm>
            <a:off x="457200" y="5559551"/>
            <a:ext cx="210312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850">
                <a:solidFill>
                  <a:srgbClr val="1E293B"/>
                </a:solidFill>
              </a:defRPr>
            </a:pPr>
            <a:r>
              <a:t>Key Differentiator</a:t>
            </a:r>
          </a:p>
        </p:txBody>
      </p:sp>
      <p:sp>
        <p:nvSpPr>
          <p:cNvPr id="98" name="TextBox 97"/>
          <p:cNvSpPr txBox="1"/>
          <p:nvPr/>
        </p:nvSpPr>
        <p:spPr>
          <a:xfrm>
            <a:off x="2743200" y="5559551"/>
            <a:ext cx="164592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850">
                <a:solidFill>
                  <a:srgbClr val="1E293B"/>
                </a:solidFill>
              </a:defRPr>
            </a:pPr>
            <a:r>
              <a:t>{{h2h_1_diff}}</a:t>
            </a:r>
          </a:p>
        </p:txBody>
      </p:sp>
      <p:sp>
        <p:nvSpPr>
          <p:cNvPr id="99" name="TextBox 98"/>
          <p:cNvSpPr txBox="1"/>
          <p:nvPr/>
        </p:nvSpPr>
        <p:spPr>
          <a:xfrm>
            <a:off x="4572000" y="5559551"/>
            <a:ext cx="164592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850">
                <a:solidFill>
                  <a:srgbClr val="1E293B"/>
                </a:solidFill>
              </a:defRPr>
            </a:pPr>
            <a:r>
              <a:t>{{h2h_2_diff}}</a:t>
            </a:r>
          </a:p>
        </p:txBody>
      </p:sp>
      <p:sp>
        <p:nvSpPr>
          <p:cNvPr id="100" name="TextBox 99"/>
          <p:cNvSpPr txBox="1"/>
          <p:nvPr/>
        </p:nvSpPr>
        <p:spPr>
          <a:xfrm>
            <a:off x="6400800" y="5559551"/>
            <a:ext cx="164592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850">
                <a:solidFill>
                  <a:srgbClr val="1E293B"/>
                </a:solidFill>
              </a:defRPr>
            </a:pPr>
            <a:r>
              <a:t>{{h2h_3_diff}}</a:t>
            </a:r>
          </a:p>
        </p:txBody>
      </p:sp>
      <p:sp>
        <p:nvSpPr>
          <p:cNvPr id="101" name="TextBox 100"/>
          <p:cNvSpPr txBox="1"/>
          <p:nvPr/>
        </p:nvSpPr>
        <p:spPr>
          <a:xfrm>
            <a:off x="8229600" y="5559551"/>
            <a:ext cx="164592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850">
                <a:solidFill>
                  <a:srgbClr val="1E293B"/>
                </a:solidFill>
              </a:defRPr>
            </a:pPr>
            <a:r>
              <a:t>{{h2h_4_diff}}</a:t>
            </a:r>
          </a:p>
        </p:txBody>
      </p:sp>
      <p:sp>
        <p:nvSpPr>
          <p:cNvPr id="102" name="TextBox 101"/>
          <p:cNvSpPr txBox="1"/>
          <p:nvPr/>
        </p:nvSpPr>
        <p:spPr>
          <a:xfrm>
            <a:off x="10058400" y="5559551"/>
            <a:ext cx="164592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850">
                <a:solidFill>
                  <a:srgbClr val="1E293B"/>
                </a:solidFill>
              </a:defRPr>
            </a:pPr>
            <a:r>
              <a:t>{{h2h_5_diff}}</a:t>
            </a:r>
          </a:p>
        </p:txBody>
      </p:sp>
      <p:sp>
        <p:nvSpPr>
          <p:cNvPr id="103" name="TextBox 102"/>
          <p:cNvSpPr txBox="1"/>
          <p:nvPr/>
        </p:nvSpPr>
        <p:spPr>
          <a:xfrm>
            <a:off x="365760" y="6035040"/>
            <a:ext cx="109728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 i="1">
                <a:solidFill>
                  <a:srgbClr val="7C6FFF"/>
                </a:solidFill>
              </a:defRPr>
            </a:pPr>
            <a:r>
              <a:t>{{h2h_key_message}}</a:t>
            </a:r>
          </a:p>
        </p:txBody>
      </p:sp>
      <p:sp>
        <p:nvSpPr>
          <p:cNvPr id="104" name="Rectangle 103"/>
          <p:cNvSpPr/>
          <p:nvPr/>
        </p:nvSpPr>
        <p:spPr>
          <a:xfrm>
            <a:off x="0" y="6583680"/>
            <a:ext cx="12188952" cy="274320"/>
          </a:xfrm>
          <a:prstGeom prst="rect">
            <a:avLst/>
          </a:prstGeom>
          <a:solidFill>
            <a:srgbClr val="FAF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5" name="TextBox 104"/>
          <p:cNvSpPr txBox="1"/>
          <p:nvPr/>
        </p:nvSpPr>
        <p:spPr>
          <a:xfrm>
            <a:off x="365760" y="6629400"/>
            <a:ext cx="64008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700" i="1">
                <a:solidFill>
                  <a:srgbClr val="94A3B8"/>
                </a:solidFill>
              </a:defRPr>
            </a:pPr>
            <a:r>
              <a:t>{{footer_refs}}</a:t>
            </a:r>
          </a:p>
        </p:txBody>
      </p:sp>
      <p:sp>
        <p:nvSpPr>
          <p:cNvPr id="106" name="TextBox 105"/>
          <p:cNvSpPr txBox="1"/>
          <p:nvPr/>
        </p:nvSpPr>
        <p:spPr>
          <a:xfrm>
            <a:off x="8686800" y="6629400"/>
            <a:ext cx="32004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700">
                <a:solidFill>
                  <a:srgbClr val="7C6FFF"/>
                </a:solidFill>
              </a:defRPr>
            </a:pPr>
            <a:r>
              <a:t>{{confidence}}% Confidence · medaccur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